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Terceira aula do bloco de JavaScript. Plano de ensino: arrays e métodos funcionais (map, filter, reduce, find); desestruturação e spread/rest.</a:t>
            </a:r>
          </a:p>
          <a:p>
            <a:r>
              <a:t>Estratégia do dia: sala de aula invertida. A turma recebeu no Classroom o roteiro de leitura prévia (MDN · Array). A aula começa checando a leitura e a maior parte do tempo vai para exercícios.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primeiro bloco é diagnóstico: mostra o que a leitura prévia rendeu e decide quanto tempo gastar nos blocos 2 a 5.</a:t>
            </a:r>
          </a:p>
          <a:p>
            <a:r>
              <a:t>Se a turma acertar bem os checkpoints, passo rápido pelos blocos de conteúdo e sobra mais tempo para o bloco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Sala de aula invertida: o primeiro contato com o conteúdo acontece em casa; a aula é para aplicar, errar e tirar dúvida com o professor por perto.</a:t>
            </a:r>
          </a:p>
          <a:p>
            <a:r>
              <a:t>É assim que se estuda tecnologia no mercado: ninguém dá aula de cada biblioteca nova; você lê a documentação e aplica.</a:t>
            </a:r>
          </a:p>
          <a:p>
            <a:r>
              <a:t>Quem não leu: não precisa esconder. Acompanhe a checagem com atenção; os blocos 2 a 5 recapitulam o essencial.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Voto com os dedos em todas. Contar mentalmente os acertos: com menos de 70% numa pergunta, explicar aquele ponto com calma no bloco correspondente.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Índices e o método at, que aceita número negativo.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C. 'caju'. at(-1) conta do fim: -1 é o último, -2 o penúltimo. É o mesmo que frutas[frutas.length - 1], só que legível.</a:t>
            </a:r>
          </a:p>
          <a:p>
            <a:r>
              <a:t>Lembrar: frutas[0] é 'maçã'. Arrays começam no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conceitual sobre a leitura.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map: um item de saída para cada item de entrada.</a:t>
            </a:r>
          </a:p>
          <a:p>
            <a:r>
              <a:t>forEach também percorre tudo, mas não devolve nada (retorna undefined). Serve para efeitos, como mostrar no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[12, 20]. filter devolve um array com todos os itens para os quais a função retornou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Mesma condição, outro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12. find para no primeiro item que passa e devolve o item, não um array. Se nenhum passar, devolve undefined.</a:t>
            </a:r>
          </a:p>
          <a:p>
            <a:r>
              <a:t>Comparar com o slide anterior: mesma função, métodos diferentes, respostas de tipos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Recapitulação rápida. Se a checagem foi bem, passar em ritmo acelerado.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Array é uma lista ordenada de valores. Cada item tem uma posição, o índice, que começa em 0.</a:t>
            </a:r>
          </a:p>
          <a:p>
            <a:r>
              <a:t>O ponto vermelho no índice 0 é a pegadinha que todo iniciante erra: o primeiro item é pedido[0], não pedido[1].</a:t>
            </a:r>
          </a:p>
          <a:p>
            <a:r>
              <a:t>length é a quantidade de itens; o último índice é sempre length - 1.</a:t>
            </a:r>
          </a:p>
          <a:p>
            <a:r>
              <a:t>at(-1) (ES2022) pega do fim sem precisar calcular.</a:t>
            </a:r>
          </a:p>
          <a:p>
            <a:r>
              <a:t>Um array pode guardar qualquer coisa, até misturado: números, textos, objetos, outros arrays. Na prática, mantenham um tipo por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quatro métodos básicos que aparecem em todo exercício. Live coding no console com o array pedido.</a:t>
            </a:r>
          </a:p>
          <a:p>
            <a:r>
              <a:t>push e pop alteram o array original (mutação). includes e indexOf só consultam.</a:t>
            </a:r>
          </a:p>
          <a:p>
            <a:r>
              <a:t>Existem também unshift/shift (início do array) e splice (meio); são menos usados e fáceis de achar na MDN quando precisar.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sem argumento converte tudo para texto e compara letra a letra: "100" vem antes de "9" porque "1" &lt; "9".</a:t>
            </a:r>
          </a:p>
          <a:p>
            <a:r>
              <a:t>Para números, passe a função de comparação (a, b) =&gt; a - b (crescente) ou (a, b) =&gt; b - a (decrescente).</a:t>
            </a:r>
          </a:p>
          <a:p>
            <a:r>
              <a:t>sort também altera o array original. toSorted (ES2023, já disponível em todos os navegadores atuais) devolve uma cópia ordenada e preserva o original. O mesmo vale para toReversed e toSpliced.</a:t>
            </a:r>
          </a:p>
          <a:p>
            <a:r>
              <a:t>Por que não mutar importa: quando vários trechos do código usam o mesmo array, alterar em um lugar quebra o outro sem aviso.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Coração da aula. O plano de ensino fala em manipular coleções "de forma declarativa": é o que estes métodos permitem.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dois códigos fazem a mesma coisa. O da esquerda é o que a turma escreveria com a aula passada: array vazio, laço, push.</a:t>
            </a:r>
          </a:p>
          <a:p>
            <a:r>
              <a:t>O da direita declara a intenção: "o array de dobros é nums mapeado para n * 2". Menos variáveis soltas, menos lugar para bug, e o array original não é alterado.</a:t>
            </a:r>
          </a:p>
          <a:p>
            <a:r>
              <a:t>O laço não está errado: continua útil. Mas para transformar e filtrar listas, o mercado escreve assim; vocês vão ver isso em todo código React, por exemplo.</a:t>
            </a:r>
          </a:p>
          <a:p>
            <a:r>
              <a:t>Os métodos recebem uma função (normalmente uma arrow) e a chamam para cada item. É o callback que vimos na aula passada.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função do map recebe um item e devolve o item transformado. O map monta o array novo com essas devoluções.</a:t>
            </a:r>
          </a:p>
          <a:p>
            <a:r>
              <a:t>Erro clássico: arrow com chaves e sem return. nomes.map(n =&gt; { n.toUpperCase() }) devolve [undefined, undefined, undefined].</a:t>
            </a:r>
          </a:p>
          <a:p>
            <a:r>
              <a:t>A função também recebe o índice como segundo parâmetro: nomes.map((n, i) =&gt; `${i + 1}. ${n}`).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função do filter é uma pergunta de sim ou não. Quem responde true entra no array novo, na mesma ordem.</a:t>
            </a:r>
          </a:p>
          <a:p>
            <a:r>
              <a:t>Os valores falsy da primeira aula valem aqui: filter(Boolean) remove de uma vez 0, '', null, undefined e NaN de um array.</a:t>
            </a:r>
          </a:p>
          <a:p>
            <a:r>
              <a:t>O array original, notas, continua com os quatro valores.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loja virtual, no iFood, no catálogo de filmes: o servidor manda uma lista de objetos e o front-end filtra e transforma para mostrar.</a:t>
            </a:r>
          </a:p>
          <a:p>
            <a:r>
              <a:t>p.preco e p.nome acessam propriedades de um objeto. Objetos são o tema de 21/10; aqui basta ler "o preço do produto".</a:t>
            </a:r>
          </a:p>
          <a:p>
            <a:r>
              <a:t>Na aula de DOM (28/10), o map vai gerar os elementos da lista na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Respiro e gancho para o próximo bloco. map transforma cada item, filter seleciona, reduce junta tudo num único resultado.</a:t>
            </a:r>
          </a:p>
          <a:p>
            <a:r>
              <a:t>Os emojis dependem da fonte do sistema; no Windows com Office atual aparecem coloridos.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com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['aa', 'bb']. Cada item vira ele mesmo concatenado com ele mesmo. O map devolve sempre um array do mesmo tamanho.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é o método que mais assusta. A estratégia é ligar com o acumulador da aula passada (let total = 0 dentro do for...of).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recebe dois argumentos: a função e o valor inicial do acumulador (aqui, 0).</a:t>
            </a:r>
          </a:p>
          <a:p>
            <a:r>
              <a:t>A função recebe o acumulador e o item atual, e devolve o novo acumulador.</a:t>
            </a:r>
          </a:p>
          <a:p>
            <a:r>
              <a:t>É exatamente o padrão da aula passada: let total = 0; for (const p of precos) total += p. O reduce só embala isso numa expressão.</a:t>
            </a:r>
          </a:p>
          <a:p>
            <a:r>
              <a:t>Sempre passe o valor inicial. Sem ele, o reduce usa o primeiro item e quebra com array vazio.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Fazer essa tabela no quadro, coluna "soma" e coluna "p", preenchendo uma linha por volta.</a:t>
            </a:r>
          </a:p>
          <a:p>
            <a:r>
              <a:t>Quem entende a tabela entende o reduce. Se a turma travar, mostrar o mesmo cálculo com for...of lado a lado.</a:t>
            </a:r>
          </a:p>
          <a:p>
            <a:r>
              <a:t>Outros usos comuns: contar (soma + 1), achar o maior (Math.max(maior, p)), montar um objeto.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percorre até achar e para. Devolve o item (não um array). Se ninguém passar, devolve undefined.</a:t>
            </a:r>
          </a:p>
          <a:p>
            <a:r>
              <a:t>Irmãos úteis: findIndex (a posição), some (algum passa? true/false), every (todos passam? true/false).</a:t>
            </a:r>
          </a:p>
          <a:p>
            <a:r>
              <a:t>Exemplo real: achar o usuário pelo e-mail na lista de cadastrados.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que resolve a escolha: o que eu quero receber?</a:t>
            </a:r>
          </a:p>
          <a:p>
            <a:r>
              <a:t>Um array do mesmo tamanho: map. Um array menor: filter. Um valor só (número, texto, objeto): reduce. Um item da lista: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Encadeamento: como filter e map devolvem arrays, dá para chamar outro método direto no resultado.</a:t>
            </a:r>
          </a:p>
          <a:p>
            <a:r>
              <a:t>Ler em voz alta: do carrinho, fique com os itens disponíveis; transforme cada um em preço vezes quantidade; some tudo começando do zero.</a:t>
            </a:r>
          </a:p>
          <a:p>
            <a:r>
              <a:t>Uma operação por linha, com o ponto no começo: é o estilo que o mercado usa e que os formatadores (como o Prettier) produzem.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Encadeamento. Pedir para fazerem o passo a passo no caderno.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[20, 40]. O filter deixa só os pares, [2, 4], e o map multiplica cada um por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Sintaxes do ES6 que aparecem em todo código moderno, especialmente em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Desestruturação de array: os nomes entre colchetes, à esquerda do =, recebem os itens na ordem.</a:t>
            </a:r>
          </a:p>
          <a:p>
            <a:r>
              <a:t>Dá para pular itens com vírgula: const [, segundo] = nomes. E dar valor padrão: const [a = 0] = [].</a:t>
            </a:r>
          </a:p>
          <a:p>
            <a:r>
              <a:t>Truque clássico para trocar duas variáveis: [a, b] = [b, a].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chaves à esquerda, a desestruturação procura propriedades com o mesmo nome; a ordem não importa.</a:t>
            </a:r>
          </a:p>
          <a:p>
            <a:r>
              <a:t>Muito usado em parâmetros de função: function mostrar({ nome, nota }) { ... }. Assim a chamada fica mostrar(aluno).</a:t>
            </a:r>
          </a:p>
          <a:p>
            <a:r>
              <a:t>Em React vocês vão ver isso em todo componente: function Card({ titulo, texto }).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Arrays e objetos são guardados por referência: b = a não cria outro array, só dá um segundo nome para o mesmo.</a:t>
            </a:r>
          </a:p>
          <a:p>
            <a:r>
              <a:t>O spread (...) espalha os itens de a dentro de um array novo. Dá para juntar arrays: [...a, ...b].</a:t>
            </a:r>
          </a:p>
          <a:p>
            <a:r>
              <a:t>Também espalha argumentos: Math.max(...notas).</a:t>
            </a:r>
          </a:p>
          <a:p>
            <a:r>
              <a:t>Atenção: é uma cópia rasa. Se os itens forem objetos, eles continuam compartilhados (structuredClone resolve; veremos com objetos).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 parameter: ...nums no parâmetro recolhe todos os argumentos num array de verdade, que aceita reduce, map etc.</a:t>
            </a:r>
          </a:p>
          <a:p>
            <a:r>
              <a:t>Como diferenciar: se os ... estão onde se recebe (parâmetro, lado esquerdo do =), é rest e junta. Se estão onde se usa (chamada, dentro de [ ] ou { }), é spread e espalha.</a:t>
            </a:r>
          </a:p>
          <a:p>
            <a:r>
              <a:t>Também serve na desestruturação: const [primeiro, ...resto] = nomes.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Referência. É a pegadinha do slide do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[1, 2, 3]. a e b são dois nomes para o mesmo array; o push por b aparece em a.</a:t>
            </a:r>
          </a:p>
          <a:p>
            <a:r>
              <a:t>E não dá erro: const impede reatribuir o nome, não alterar o conteúdo (a etiqueta na caixa, da primeira aula).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maior parte da aula. Regra do dia: resolver tudo com métodos de array, sem for nem while.</a:t>
            </a:r>
          </a:p>
          <a:p>
            <a:r>
              <a:t>Podem trabalhar em duplas, como na aula passada. Eu circulo pela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Soluções esperadas:</a:t>
            </a:r>
          </a:p>
          <a:p>
            <a:r>
              <a:t>média: notas.reduce((s, n) =&gt; s + n, 0) / notas.length (7.214..., use toFixed(1) para mostrar).</a:t>
            </a:r>
          </a:p>
          <a:p>
            <a:r>
              <a:t>maior: Math.max(...notas).</a:t>
            </a:r>
          </a:p>
          <a:p>
            <a:r>
              <a:t>acima de 7: notas.filter(n =&gt; n &gt; 7).length (7.5, 9, 8 e 10: dá 4).</a:t>
            </a:r>
          </a:p>
          <a:p>
            <a:r>
              <a:t>aprovadas: notas.filter(n =&gt; n &gt;= 6).toSorted((a, b) =&gt; b - a).</a:t>
            </a:r>
          </a:p>
          <a:p>
            <a:r>
              <a:t>Erro comum: sort sem função de comparação e mutação do array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contato prático com array de objetos. p.nome e p.preco acessam as propriedades.</a:t>
            </a:r>
          </a:p>
          <a:p>
            <a:r>
              <a:t>Soluções: cardapio.map(i =&gt; i.nome); cardapio.filter(i =&gt; i.preco &lt;= 10); cardapio.find(i =&gt; i.preco &gt; 15) (devolve o objeto do Açaí); cardapio.reduce((s, i) =&gt; s + i.preco, 0) (59).</a:t>
            </a:r>
          </a:p>
          <a:p>
            <a:r>
              <a:t>Bônus: cardapio.filter(i =&gt; i.preco &lt;= 10).map(i =&gt; i.nome) → ['Coxinha', 'Pastel', 'Suco'].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slice(0, 3) não foi apresentado em aula de propósito: faz parte da proposta invertida pesquisar na MDN. slice devolve uma cópia de um pedaço, sem alterar o original.</a:t>
            </a:r>
          </a:p>
          <a:p>
            <a:r>
              <a:t>Solução: alunos.toSorted((a, b) =&gt; b.nota - a.nota).slice(0, 3).map(a =&gt; a.nome).</a:t>
            </a:r>
          </a:p>
          <a:p>
            <a:r>
              <a:t>Para provar que não mudou: console.log(alunos) depois, ou console.table(alunos). Pedir que testem também com sort no lugar de toSorted e vejam a diferença.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Fechamento: pedir que cada dupla escolha um dos quatro métodos e explique para a sala com um exemplo que não seja de nota nem de preço.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Próxima aula (21/10): objetos, classes, o formato JSON e armazenamento local (localStorage). Estratégia: aula expositiva dialogada com live coding.</a:t>
            </a:r>
          </a:p>
          <a:p>
            <a:r>
              <a:t>Os desafios de hoje já usaram arrays de objetos: a próxima aula explica o que tem dentro das chaves.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4960" y="0"/>
            <a:ext cx="3749039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86104"/>
            <a:ext cx="2926080" cy="117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aula_14.10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ourier New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99CB38"/>
                </a:solidFill>
                <a:latin typeface="Calibri"/>
              </a:rPr>
              <a:t>Parte 3 · arrays e métodos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C9D3C0"/>
                </a:solidFill>
                <a:latin typeface="Calibri"/>
              </a:rPr>
              <a:t>Desenvolvimento de Sistemas Web · 14/10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Prof. Thiago Araújo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IFPE Campus Palmares · ADS 3º período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mapa_da_aula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Mapa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Checagem da leitura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424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424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424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[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Arrays: o básico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840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40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280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map e filter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reduce e find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424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24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424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864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Desestruturação e spread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840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840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Mão na massa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Hoje a aula é invertida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6858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685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3075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Vocês já leram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63677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roteiro da MDN no Classroom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6858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685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11912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Checagem rápida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4830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quatro perguntas, sem nota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6858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685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3065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Eu tiro as dúvidas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59835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só o que travou na leitura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6858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685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4218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Mão na massa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71365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 maior parte do tempo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" y="3669030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Checagem da leitura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Quatro perguntas para ver o que ficou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[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371600"/>
            <a:ext cx="6217920" cy="883920"/>
          </a:xfrm>
          <a:prstGeom prst="roundRect">
            <a:avLst>
              <a:gd name="adj" fmla="val 620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517904"/>
            <a:ext cx="5897879" cy="591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700" b="1">
                <a:solidFill>
                  <a:srgbClr val="FFFFFF"/>
                </a:solidFill>
                <a:latin typeface="Courier New"/>
              </a:rPr>
              <a:t>const frutas = ['maçã', 'uva', 'caju']</a:t>
            </a:r>
          </a:p>
          <a:p>
            <a:r>
              <a:rPr sz="1700" b="1">
                <a:solidFill>
                  <a:srgbClr val="FFFFFF"/>
                </a:solidFill>
                <a:latin typeface="Courier New"/>
              </a:rPr>
              <a:t>frutas.at(-1)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'maçã'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'uva'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'caju'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371600"/>
            <a:ext cx="6217920" cy="883920"/>
          </a:xfrm>
          <a:prstGeom prst="roundRect">
            <a:avLst>
              <a:gd name="adj" fmla="val 620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517904"/>
            <a:ext cx="5897879" cy="591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700" b="1">
                <a:solidFill>
                  <a:srgbClr val="FFFFFF"/>
                </a:solidFill>
                <a:latin typeface="Courier New"/>
              </a:rPr>
              <a:t>const frutas = ['maçã', 'uva', 'caju']</a:t>
            </a:r>
          </a:p>
          <a:p>
            <a:r>
              <a:rPr sz="1700" b="1">
                <a:solidFill>
                  <a:srgbClr val="FFFFFF"/>
                </a:solidFill>
                <a:latin typeface="Courier New"/>
              </a:rPr>
              <a:t>frutas.at(-1)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'maçã'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'uva'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'caju'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35204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método devolve um array novo com cada item transformado?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filter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find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forEach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método devolve um array novo com cada item transformado?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filter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find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forEach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[5, 12, 8, 20].filter(n =&gt; n &gt;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[12, 20]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[5, 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[5, 12, 8, 20].filter(n =&gt; n &gt;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[12, 20]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[5, 8]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true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E agora?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[5, 12, 8, 20].find(n =&gt; n &gt;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[12, 20]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true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E agora?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[5, 12, 8, 20].find(n =&gt; n &gt;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[12, 20]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12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true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Arrays: o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Uma lista de valores, em ordem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[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Um array é uma fila numerada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1" i="0">
                <a:solidFill>
                  <a:srgbClr val="4E6730"/>
                </a:solidFill>
                <a:latin typeface="Courier New"/>
              </a:rPr>
              <a:t>[0]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4592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'Açaí'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280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1" i="0">
                <a:solidFill>
                  <a:srgbClr val="4E6730"/>
                </a:solidFill>
                <a:latin typeface="Courier New"/>
              </a:rPr>
              <a:t>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164592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16459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'Coxinha'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280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1" i="0">
                <a:solidFill>
                  <a:srgbClr val="4E6730"/>
                </a:solidFill>
                <a:latin typeface="Courier New"/>
              </a:rPr>
              <a:t>[2]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164592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6459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'Suco'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280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1" i="0">
                <a:solidFill>
                  <a:srgbClr val="4E6730"/>
                </a:solidFill>
                <a:latin typeface="Courier New"/>
              </a:rPr>
              <a:t>[3]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9944" y="164592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16459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'Pastel'</a:t>
            </a:r>
          </a:p>
        </p:txBody>
      </p:sp>
      <p:sp>
        <p:nvSpPr>
          <p:cNvPr id="23" name="Oval 22"/>
          <p:cNvSpPr/>
          <p:nvPr/>
        </p:nvSpPr>
        <p:spPr>
          <a:xfrm>
            <a:off x="2057400" y="155448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2697480"/>
            <a:ext cx="8229600" cy="1325880"/>
          </a:xfrm>
          <a:prstGeom prst="roundRect">
            <a:avLst>
              <a:gd name="adj" fmla="val 413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843784"/>
            <a:ext cx="7909560" cy="10332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pedido = ['Açaí', 'Coxinha', 'Suco', 'Pastel']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pedido[0]       </a:t>
            </a:r>
            <a:r>
              <a:rPr sz="1600" b="1">
                <a:solidFill>
                  <a:srgbClr val="99CB38"/>
                </a:solidFill>
                <a:latin typeface="Courier New"/>
              </a:rPr>
              <a:t>// 'Açaí'   (começa no zero!)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pedido.length   </a:t>
            </a:r>
            <a:r>
              <a:rPr sz="1600" b="1">
                <a:solidFill>
                  <a:srgbClr val="99CB38"/>
                </a:solidFill>
                <a:latin typeface="Courier New"/>
              </a:rPr>
              <a:t>// 4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pedido.at(-1)   </a:t>
            </a:r>
            <a:r>
              <a:rPr sz="1600" b="1">
                <a:solidFill>
                  <a:srgbClr val="99CB38"/>
                </a:solidFill>
                <a:latin typeface="Courier New"/>
              </a:rPr>
              <a:t>// 'Pastel'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Calibri"/>
              </a:rPr>
              <a:t>O primeiro item mora na posição </a:t>
            </a:r>
            <a:r>
              <a:rPr sz="2000" b="1" i="0">
                <a:solidFill>
                  <a:srgbClr val="7C2BD0"/>
                </a:solidFill>
                <a:latin typeface="Calibri"/>
              </a:rPr>
              <a:t>0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Mexendo no array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74879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4879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712214"/>
            <a:ext cx="27431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push(x)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59686"/>
            <a:ext cx="274319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adiciona no fim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59" y="174879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74879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712214"/>
            <a:ext cx="27431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pop()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059686"/>
            <a:ext cx="274319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remove do fim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50901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0901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472434"/>
            <a:ext cx="27431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includes(x)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19906"/>
            <a:ext cx="274319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tem esse item? true ou false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59" y="350901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350901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472434"/>
            <a:ext cx="27431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indexOf(x)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819906"/>
            <a:ext cx="274319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em que posição está? (-1 se não)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Cuidado com o sort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280160"/>
          </a:xfrm>
          <a:prstGeom prst="roundRect">
            <a:avLst>
              <a:gd name="adj" fmla="val 4285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98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n = [10, 9, 100]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n.sort()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[10, 100, 9]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e alterou o n!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11879"/>
            <a:ext cx="3520439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Ordena como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texto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 muda o original.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280160"/>
          </a:xfrm>
          <a:prstGeom prst="roundRect">
            <a:avLst>
              <a:gd name="adj" fmla="val 428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98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n = [10, 9, 100]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n.toSorted((a, b) =&gt; a - b)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[9, 10, 100]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n continua intacto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611879"/>
            <a:ext cx="3520439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Função de comparação e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cópia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nova.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map e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Transformar e selecionar, sem laço manual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[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Imperativo × declarativo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Imperativo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280160"/>
          </a:xfrm>
          <a:prstGeom prst="roundRect">
            <a:avLst>
              <a:gd name="adj" fmla="val 4285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98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dobros = []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for (const n of nums)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dobros.push(n * 2)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79"/>
            <a:ext cx="3520439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Você diz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como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fazer, passo a passo.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Declarativo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822960"/>
          </a:xfrm>
          <a:prstGeom prst="roundRect">
            <a:avLst>
              <a:gd name="adj" fmla="val 6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5303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dobros =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nums.map(n =&gt; n *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154679"/>
            <a:ext cx="3520439" cy="1234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Você diz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o que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quer. O como é do map.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map: transforma cada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saída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86099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6099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'ana'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94859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4859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'bia'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12079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03620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3620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'caio'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20840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737360" y="228600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2432304"/>
            <a:ext cx="6629399" cy="2560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nomes.map(n =&gt; n.toUpperCase())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03320" y="283464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086099" y="31546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6099" y="31546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'ANA'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12079" y="283464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94859" y="31546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4859" y="31546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'BIA'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20840" y="283464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03620" y="31546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3620" y="31546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'CAIO'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Calibri"/>
              </a:rPr>
              <a:t>Mesmo tamanho: </a:t>
            </a:r>
            <a:r>
              <a:rPr sz="2000" b="1" i="0">
                <a:solidFill>
                  <a:srgbClr val="7C2BD0"/>
                </a:solidFill>
                <a:latin typeface="Calibri"/>
              </a:rPr>
              <a:t>um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 item de saída para cada item de entrada.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filter: seleciona itens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saída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19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7.5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48939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79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79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57699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49240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66459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0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5.5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75220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737360" y="228600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2432304"/>
            <a:ext cx="6629399" cy="2560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notas.filter(n =&gt; n &gt;= 6)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48939" y="283464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331719" y="31546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19" y="31546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7.5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79" y="31546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79" y="31546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 i="0">
                <a:solidFill>
                  <a:srgbClr val="67766C"/>
                </a:solidFill>
                <a:latin typeface="Calibri"/>
              </a:rPr>
              <a:t>✗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66459" y="283464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49240" y="31546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1546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1546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31546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 i="0">
                <a:solidFill>
                  <a:srgbClr val="67766C"/>
                </a:solidFill>
                <a:latin typeface="Calibr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Calibri"/>
              </a:rPr>
              <a:t>Só passa quem devolve </a:t>
            </a:r>
            <a:r>
              <a:rPr sz="2000" b="1" i="0">
                <a:solidFill>
                  <a:srgbClr val="7C2BD0"/>
                </a:solidFill>
                <a:latin typeface="Calibri"/>
              </a:rPr>
              <a:t>true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. A saída pode encolher.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Toda tela de app usa isso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loja.com/busca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1783080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7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783080"/>
            <a:ext cx="32918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Até R$ 20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258568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Açaí 500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2258568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R$ 18,00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606039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Coxinha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606039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R$ 4,50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953511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Suco de caju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2953511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R$ 6,00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00983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3 de 5 produtos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28016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463039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Todo filtro de busca é um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filter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Toda lista na tela nasce de um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map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621024"/>
            <a:ext cx="3703320" cy="7589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produtos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.filter(p =&gt; p.preco &lt;= 20)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.map(p =&gt; p.nome)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02920"/>
            <a:ext cx="7498079" cy="3383280"/>
          </a:xfrm>
          <a:prstGeom prst="rect">
            <a:avLst/>
          </a:prstGeom>
          <a:solidFill>
            <a:srgbClr val="FFFFFF"/>
          </a:solidFill>
          <a:ln w="2222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2546" y="685800"/>
            <a:ext cx="4978907" cy="2194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Courier New"/>
              </a:rPr>
              <a:t>[🌽, 🐄, 🐔].map(cozinhar)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Courier New"/>
              </a:rPr>
              <a:t>  → [🍿, 🍔, 🍳]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Courier New"/>
              </a:rPr>
              <a:t>[🍿, 🍔, 🍳].filter(ehVegetariano)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Courier New"/>
              </a:rPr>
              <a:t>  → [🍿, 🍳]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Courier New"/>
              </a:rPr>
              <a:t>[🍿, 🍳].reduce(comer)</a:t>
            </a:r>
          </a:p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  → 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 i="1">
                <a:solidFill>
                  <a:srgbClr val="67766C"/>
                </a:solidFill>
                <a:latin typeface="Calibri"/>
              </a:rPr>
              <a:t>Meme clássico que resume a aula inteira.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67766C"/>
                </a:solidFill>
                <a:latin typeface="Calibri"/>
              </a:rPr>
              <a:t>Versão livre do meme da comunidade JavaScript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['a', 'b'].map(x =&gt; x + 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'aabb'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['aa', 'bb']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['a', 'b']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[2, 2]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['a', 'b'].map(x =&gt; x + 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'aabb'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['aa', 'bb']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['a', 'b']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[2, 2]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reduce e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Resumir numa resposta e achar o primeiro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[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reduce: junta tudo em 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saída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86099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6099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18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94859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4859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4.5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12079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03620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3620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20840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737360" y="228600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2432304"/>
            <a:ext cx="6629399" cy="2560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precos.reduce((soma, p) =&gt; soma + p, 0)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12079" y="283464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06240" y="315468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31546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28.5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Calibri"/>
              </a:rPr>
              <a:t>Resume o array num </a:t>
            </a:r>
            <a:r>
              <a:rPr sz="2000" b="1" i="0">
                <a:solidFill>
                  <a:srgbClr val="7C2BD0"/>
                </a:solidFill>
                <a:latin typeface="Calibri"/>
              </a:rPr>
              <a:t>único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 valor. O 0 é o início da soma.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reduce, volta a volta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Início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ourier New"/>
              </a:rPr>
              <a:t>soma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começa em 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4884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1ª volta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0 + 18 = 18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4048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2ª volta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18 + 4.5 = 22.5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3212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3ª volta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22.5 + 6 = 28.5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Fim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devolve 28.5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992880"/>
            <a:ext cx="8229600" cy="579120"/>
          </a:xfrm>
          <a:prstGeom prst="roundRect">
            <a:avLst>
              <a:gd name="adj" fmla="val 947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139184"/>
            <a:ext cx="7909560" cy="2865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total = precos.reduce((soma, p) =&gt; soma + p, 0)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28.5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find: acha o primeiro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saída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19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19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7.5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48939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79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79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57699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49240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66459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0" y="13258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3258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Courier New"/>
              </a:rPr>
              <a:t>5.5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75220" y="196596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737360" y="228600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2432304"/>
            <a:ext cx="6629399" cy="2560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notas.find(n =&gt; n &lt; 6)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57699" y="2834640"/>
            <a:ext cx="0" cy="320040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840479" y="315468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79" y="31546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4965191" y="3063240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Calibri"/>
              </a:rPr>
              <a:t>Devolve o </a:t>
            </a:r>
            <a:r>
              <a:rPr sz="2000" b="1" i="0">
                <a:solidFill>
                  <a:srgbClr val="7C2BD0"/>
                </a:solidFill>
                <a:latin typeface="Calibri"/>
              </a:rPr>
              <a:t>primeiro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 que passa, ou </a:t>
            </a:r>
            <a:r>
              <a:rPr sz="2000" b="1" i="0">
                <a:solidFill>
                  <a:srgbClr val="2B2B2B"/>
                </a:solidFill>
                <a:latin typeface="Courier New"/>
              </a:rPr>
              <a:t>undefined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Qual método usar?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116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116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750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25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transformar cada 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59" y="16116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6116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filt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15750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9225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selecionar alguns itens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0975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975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0609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reduce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4084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resumir em um valor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59" y="30975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30975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find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30609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find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34084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achar o primeiro que 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1480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Pergunte: o que eu quero </a:t>
            </a:r>
            <a:r>
              <a:rPr sz="2000" b="1" i="0">
                <a:solidFill>
                  <a:srgbClr val="7C2BD0"/>
                </a:solidFill>
                <a:latin typeface="Calibri"/>
              </a:rPr>
              <a:t>de volta</a:t>
            </a:r>
            <a:r>
              <a:rPr sz="2000" b="1" i="0">
                <a:solidFill>
                  <a:srgbClr val="2B2B2B"/>
                </a:solidFill>
                <a:latin typeface="Calibri"/>
              </a:rPr>
              <a:t>?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4233672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Os métodos se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encadeiam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: a saída de um é a entrada do próximo.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Leia de cima para baixo, como uma receita.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96596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12264"/>
            <a:ext cx="3886199" cy="10789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total = carrinho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.filter(i =&gt; i.disponivel)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.map(i =&gt; i.preco * i.qtd)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.reduce((s, v) =&gt; s + v, 0)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[1, 2, 3, 4]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  .filter(n =&gt; n % 2 === 0)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  .map(n =&gt; n *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[10, 20, 30, 40]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[20, 40]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[2, 4]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[1, 2, 3, 4]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  .filter(n =&gt; n % 2 === 0)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  .map(n =&gt; n *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[10, 20, 30, 40]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[20, 40]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[2, 4]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Desestruturação e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Tirar da caixa e espalhar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[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Desestruturar: tirar da caixa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822960"/>
          </a:xfrm>
          <a:prstGeom prst="roundRect">
            <a:avLst>
              <a:gd name="adj" fmla="val 666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5303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primeiro = nomes[0]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segundo = nomes[1]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54679"/>
            <a:ext cx="3520439" cy="1234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Uma linha por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822960"/>
          </a:xfrm>
          <a:prstGeom prst="roundRect">
            <a:avLst>
              <a:gd name="adj" fmla="val 6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5303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[primeiro, segundo]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= nomes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154679"/>
            <a:ext cx="3520439" cy="1234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colchetes à esquerda pegam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por posição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Com objetos, a desestruturação pega pelo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nome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Objetos são o tema de 21/10. Aqui, só a primeira mordida.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50876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655064"/>
            <a:ext cx="3611879" cy="19933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aluno =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nome: 'Ana',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nota: 9,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curso: 'ADS'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{ nome, nota } = aluno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nome: 'Ana', nota: 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Spread: copiar de verdade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051560"/>
          </a:xfrm>
          <a:prstGeom prst="roundRect">
            <a:avLst>
              <a:gd name="adj" fmla="val 5217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7589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b = a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b.push(3)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a também mudou!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83279"/>
            <a:ext cx="352043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b = 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não copia: aponta pro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mesmo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array.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7589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b = [...a, 3]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a intacto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b é um array novo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383279"/>
            <a:ext cx="352043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...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espalha os itens num array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novo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Rest faz o contrário: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junta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argumentos soltos num array.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Mesmos três pontinhos: no parâmetro juntam, na chamada espalham.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623060"/>
            <a:ext cx="3931920" cy="2057400"/>
          </a:xfrm>
          <a:prstGeom prst="roundRect">
            <a:avLst>
              <a:gd name="adj" fmla="val 2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769364"/>
            <a:ext cx="3611879" cy="1764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function somar(...nums)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return nums.reduce(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(s, n) =&gt; s + n, 0)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somar(1, 2, 3)  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6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somar(5, 10, 15)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341120"/>
          </a:xfrm>
          <a:prstGeom prst="roundRect">
            <a:avLst>
              <a:gd name="adj" fmla="val 409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10485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a = [1, 2]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b = a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b.push(3)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console.log(a)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[1, 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[1, 2, 3]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[3]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Erro: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a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é const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341120"/>
          </a:xfrm>
          <a:prstGeom prst="roundRect">
            <a:avLst>
              <a:gd name="adj" fmla="val 409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10485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a = [1, 2]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b = a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b.push(3)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console.log(a)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[1, 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849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987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987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849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[1, 2, 3]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7584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[3]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7642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901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901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7642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Erro: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a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é const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Três desafios, sem nenhum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[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Notas da turma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Calcule a média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reduce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Maior nota: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Math.max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com spread.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Quantas acima de 7?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filter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Aprovadas (≥ 6) do maior ao menor.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Regra: nenhum </a:t>
            </a:r>
            <a:r>
              <a:rPr sz="1800" b="1" i="0">
                <a:solidFill>
                  <a:srgbClr val="4E6730"/>
                </a:solidFill>
                <a:latin typeface="Courier New"/>
              </a:rPr>
              <a:t>for</a:t>
            </a:r>
            <a:r>
              <a:rPr sz="1800" b="1" i="0">
                <a:solidFill>
                  <a:srgbClr val="4E6730"/>
                </a:solidFill>
                <a:latin typeface="Calibri"/>
              </a:rPr>
              <a:t>, nenhum </a:t>
            </a:r>
            <a:r>
              <a:rPr sz="1800" b="1" i="0">
                <a:solidFill>
                  <a:srgbClr val="4E6730"/>
                </a:solidFill>
                <a:latin typeface="Courier New"/>
              </a:rPr>
              <a:t>while</a:t>
            </a:r>
            <a:r>
              <a:rPr sz="1800" b="1" i="0">
                <a:solidFill>
                  <a:srgbClr val="4E6730"/>
                </a:solidFill>
                <a:latin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331720"/>
          </a:xfrm>
          <a:prstGeom prst="roundRect">
            <a:avLst>
              <a:gd name="adj" fmla="val 235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20391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notas = [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7.5, 9, 4.5, 8,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6, 10, 5.5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]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média: 7.21...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maior: 10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acima de 7: 4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[10, 9, 8, 7.5, 6]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Cardápio da lanchonete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Liste só os nomes (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map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Itens até R$ 10 (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filter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Primeiro acima de R$ 15 (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find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Soma do cardápio todo (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reduce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nomes dos itens até R$ 10, encadeado.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905000"/>
          </a:xfrm>
          <a:prstGeom prst="roundRect">
            <a:avLst>
              <a:gd name="adj" fmla="val 287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6123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cardapio = [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'Coxinha', preco: 5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'Pastel', preco: 8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'Açaí', preco: 18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'Suco', preco: 6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'X-tudo', preco: 22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Ranking sem bagunçar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Ordene por nota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toSorted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Pegue os 3 primeiros (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slice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Fique só com os nomes (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map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Prove que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alunos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não mudou.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Entrega: os três desafios no Classroom.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118360"/>
          </a:xfrm>
          <a:prstGeom prst="roundRect">
            <a:avLst>
              <a:gd name="adj" fmla="val 258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825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alunos = [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'Ana', nota: 9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'Bia', nota: 6.5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'Caio', nota: 8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'Davi', nota: 10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{ nome: 'Eva', nota: 7 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]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['Davi', 'Ana', 'Caio']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Leve para casa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map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transforma e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filter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seleciona.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reduce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resume e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find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acha o primeiro.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2B2B2B"/>
                </a:solidFill>
                <a:latin typeface="Courier New"/>
              </a:rPr>
              <a:t>...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copia e junta. Prefira não mutar.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95913"/>
            <a:ext cx="2377440" cy="951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315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próxima_aula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Objetos, classes e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99CB38"/>
                </a:solidFill>
                <a:latin typeface="Calibri"/>
              </a:rPr>
              <a:t>21/10 · live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9D3C0"/>
                </a:solidFill>
                <a:latin typeface="Calibri"/>
              </a:rPr>
              <a:t>Leia: MDN · O básico sobre objetos</a:t>
            </a:r>
          </a:p>
          <a:p>
            <a:pPr algn="l"/>
            <a:r>
              <a:rPr sz="1500" b="0" i="0">
                <a:solidFill>
                  <a:srgbClr val="C9D3C0"/>
                </a:solidFill>
                <a:latin typeface="Calibri"/>
              </a:rPr>
              <a:t>Termine os desafios no 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Prof. Thiago Araújo · IFPE Campus Palmares · ADS 3º período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