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Araujo" userId="c1f1993b7930f888" providerId="LiveId" clId="{FA7E271A-FC95-4D77-AF09-2F324526F2F6}"/>
    <pc:docChg chg="undo custSel addSld delSld">
      <pc:chgData name="Thiago Araujo" userId="c1f1993b7930f888" providerId="LiveId" clId="{FA7E271A-FC95-4D77-AF09-2F324526F2F6}" dt="2026-09-30T22:34:22.378" v="1" actId="47"/>
      <pc:docMkLst>
        <pc:docMk/>
      </pc:docMkLst>
      <pc:sldChg chg="add del">
        <pc:chgData name="Thiago Araujo" userId="c1f1993b7930f888" providerId="LiveId" clId="{FA7E271A-FC95-4D77-AF09-2F324526F2F6}" dt="2026-09-30T22:34:22.378" v="1" actId="47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418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Boas-vindas ao bloco de JavaScript. Até aqui a turma fez HTML e CSS com o professor Hélio; a partir de hoje assumo a disciplina.</a:t>
            </a:r>
          </a:p>
          <a:p>
            <a:r>
              <a:t>Combinar desde já: o notebook fica aberto com o navegador e o VS Code. Hoje é aula expositiva dialogada com live coding: eu digito, vocês digitam junto.</a:t>
            </a:r>
          </a:p>
          <a:p>
            <a:r>
              <a:t>Plano de ensino desta aula: let/const, tipos de dados, operadores, template literals e console do DevTools.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o caminho do dia em seis blocos. Os quatro do meio são o conteúdo do plano de ensino; o primeiro dá contexto (história e mercado) e o último é prática com entrega no Classroom.</a:t>
            </a:r>
          </a:p>
          <a:p>
            <a:r>
              <a:t>Perguntar: quem já escreveu alguma linha de JavaScript? Quem já ouviu falar de TypeScript ou React? Anotar mentalmente para calibrar o 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Deixar a turma responder. Não recarregou: só o coração mudou de cor e o contador subiu.</a:t>
            </a:r>
          </a:p>
          <a:p>
            <a:r>
              <a:t>Quem fez isso foi o JavaScript: ele reage ao clique, altera um pedacinho da página e conversa com o servidor sem trocar a página inteira.</a:t>
            </a:r>
          </a:p>
          <a:p>
            <a:r>
              <a:t>Outros exemplos para puxar da turma: o carrinho do iFood que atualiza o total, o "digitando..." do WhatsApp Web, o mapa do Uber que se mexe.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Retomar o que a turma já sabe: HTML dá o esqueleto e o significado; CSS dá a aparência.</a:t>
            </a:r>
          </a:p>
          <a:p>
            <a:r>
              <a:t>JavaScript é a camada de comportamento: responde a cliques, valida formulários, busca dados, muda a página enquanto o usuário está nela.</a:t>
            </a:r>
          </a:p>
          <a:p>
            <a:r>
              <a:t>Uma analogia que costuma funcionar: HTML é o esqueleto, CSS é a roupa, JavaScript são os músculos.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combinado de método para todo o bloco de JavaScript.</a:t>
            </a:r>
          </a:p>
          <a:p>
            <a:r>
              <a:t>1) Console aberto: toda ideia nova a gente testa na hora.</a:t>
            </a:r>
          </a:p>
          <a:p>
            <a:r>
              <a:t>2) Prever antes de rodar: é o que transforma "ver o professor digitar" em aprender. Vou pedir palpites o tempo todo.</a:t>
            </a:r>
          </a:p>
          <a:p>
            <a:r>
              <a:t>3) Digitar em vez de copiar: a mão fixa a sintaxe; errar um parêntese e descobrir onde é parte do aprendizado.</a:t>
            </a:r>
          </a:p>
          <a:p>
            <a:r>
              <a:t>4) Mensagem de erro não é bronca, é pista: ela diz o tipo do erro, o arquivo e a linha.</a:t>
            </a:r>
          </a:p>
          <a:p>
            <a:r>
              <a:t>Avaliação desta etapa (plano de ensino): exercícios práticos e desafios de código no Classroom.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curto de contexto (uns 20 minutos). Objetivo: a turma entender por que JS está em todo lugar e onde TypeScript e frameworks entram nessa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Brendan Eich foi contratado pela Netscape, que tinha o navegador mais usado da época, e escreveu o protótipo em cerca de 10 dias.</a:t>
            </a:r>
          </a:p>
          <a:p>
            <a:r>
              <a:t>A ideia era uma linguagem simples, para "colar" pedaços da página, usada por designers e não só por programadores.</a:t>
            </a:r>
          </a:p>
          <a:p>
            <a:r>
              <a:t>Pressa tem preço: algumas esquisitices que vamos ver hoje (typeof null, coerção de tipos) nasceram ali e nunca puderam ser removidas, porque quebrariam a web.</a:t>
            </a:r>
          </a:p>
          <a:p>
            <a:r>
              <a:t>Regra de ouro da web: nada que já funciona pode quebrar. Por isso a linguagem só cresce, nunca 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1995: nasce como Mocha, vira LiveScript e, por marketing, JavaScript (Java estava na moda).</a:t>
            </a:r>
          </a:p>
          <a:p>
            <a:r>
              <a:t>1997: a Netscape leva a linguagem para a Ecma International; nasce o padrão ECMAScript (ECMA-262). Assim Microsoft, Google, Apple e Mozilla implementam a mesma linguagem.</a:t>
            </a:r>
          </a:p>
          <a:p>
            <a:r>
              <a:t>2009: Ryan Dahl cria o Node.js, que usa o motor V8 do Chrome fora do navegador. JS vira linguagem de servidor.</a:t>
            </a:r>
          </a:p>
          <a:p>
            <a:r>
              <a:t>2015: o ES6 (ES2015) é a grande virada. É o "JavaScript moderno (ES6+)" do nosso plano de ensino: let, const, arrow functions, template literals, classes, módulos.</a:t>
            </a:r>
          </a:p>
          <a:p>
            <a:r>
              <a:t>Hoje: sai uma edição por ano (ES2024, ES2025...), com melhorias menores e constantes.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Momento de respiro. Deixar claro: Java e JavaScript são linguagens diferentes, de empresas diferentes, com propósitos diferentes. Só o nome é parecido.</a:t>
            </a:r>
          </a:p>
          <a:p>
            <a:r>
              <a:t>Curiosidade: a marca "JavaScript" pertence hoje à Oracle (que comprou a Sun, dona do Java). Por isso o nome oficial do padrão é ECMAScript.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Navegador: todo navegador moderno tem um motor JS (V8 no Chrome/Edge, SpiderMonkey no Firefox, JavaScriptCore no Safari).</a:t>
            </a:r>
          </a:p>
          <a:p>
            <a:r>
              <a:t>Servidor: Node.js é o mais usado; Deno e Bun são alternativas mais novas.</a:t>
            </a:r>
          </a:p>
          <a:p>
            <a:r>
              <a:t>Celular: React Native, criado pela Meta, é usado em apps como o do Instagram e muitos apps de bancos e delivery.</a:t>
            </a:r>
          </a:p>
          <a:p>
            <a:r>
              <a:t>Desktop: o Electron empacota um navegador + Node. O próprio VS Code que vocês usam é feito assim, e escrito em TypeScript.</a:t>
            </a:r>
          </a:p>
          <a:p>
            <a:r>
              <a:t>Dado de mercado: na pesquisa anual do Stack Overflow com desenvolvedores, JavaScript aparece como a linguagem mais usada ano após ano há mais de uma década (survey.stackoverflow.co).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TypeScript é JavaScript com anotações de tipo. Foi criado pela Microsoft em 2012 (Anders Hejlsberg, o mesmo criador do C#).</a:t>
            </a:r>
          </a:p>
          <a:p>
            <a:r>
              <a:t>O navegador não entende TypeScript: um compilador verifica os tipos e gera JavaScript comum. O que roda no fim é sempre JS.</a:t>
            </a:r>
          </a:p>
          <a:p>
            <a:r>
              <a:t>Por que o mercado adotou: em projeto grande, pegar o erro no editor, antes de rodar, economiza muito tempo. Hoje a maioria das vagas de front-end pede TypeScript.</a:t>
            </a:r>
          </a:p>
          <a:p>
            <a:r>
              <a:t>Mensagem para a turma: TypeScript não substitui aprender JavaScript; é JavaScript + tipos. Quem domina JS aprende TS em poucos dias.</a:t>
            </a:r>
          </a:p>
          <a:p>
            <a:r>
              <a:t>O exemplo do slide antecipa algo que veremos no bloco de tipos: '2' + 3 dá '23'.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Framework é um conjunto de ferramentas e regras para construir interfaces grandes sem reinventar a roda: componentes, estado, rotas.</a:t>
            </a:r>
          </a:p>
          <a:p>
            <a:r>
              <a:t>React (Meta, 2013): o mais usado no mercado brasileiro; base do Next.js e do React Native.</a:t>
            </a:r>
          </a:p>
          <a:p>
            <a:r>
              <a:t>Angular (Google): a versão atual é de 2016; o antigo AngularJS é de 2010. Muito usado em sistemas corporativos e governo.</a:t>
            </a:r>
          </a:p>
          <a:p>
            <a:r>
              <a:t>Vue (Evan You, 2014): fácil de começar, popular na Ásia e em projetos menores; base do Nuxt.</a:t>
            </a:r>
          </a:p>
          <a:p>
            <a:r>
              <a:t>Svelte (Rich Harris, 2016): compila os componentes e entrega pouco JS ao navegador.</a:t>
            </a:r>
          </a:p>
          <a:p>
            <a:r>
              <a:t>Antes deles, jQuery (2006) dominava a web; ainda existe em muito site legado.</a:t>
            </a:r>
          </a:p>
          <a:p>
            <a:r>
              <a:t>Ponto principal (o ponto vermelho): todos são escritos em JavaScript e usados com JavaScript/TypeScript. Sem base de JS, o framework vira decoreba.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frameworks mudam de moda a cada poucos anos; a linguagem por baixo continua a mesma.</a:t>
            </a:r>
          </a:p>
          <a:p>
            <a:r>
              <a:t>Por isso este bloco da disciplina é JavaScript puro (o chamado "vanilla JS"). Quando vocês encontrarem React no estágio, vão reconhecer arrays, objetos, funções e eventos: é tudo o que vamos estudar aqui.</a:t>
            </a:r>
          </a:p>
          <a:p>
            <a:r>
              <a:t>Na aula de 18/11 vamos ver npm e Vite, que é a porta de entrada para esses frameworks.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Checkpoint rápido. Pedir para cada um levantar os dedos (1 a 4, para A a D) ao mesmo tempo, antes de discutir.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C. React é uma biblioteca JavaScript.</a:t>
            </a:r>
          </a:p>
          <a:p>
            <a:r>
              <a:t>A: nomes parecidos, linguagens diferentes. B: TypeScript é compilado para JavaScript antes de rodar. D: roda no servidor (Node), no celular (React Native) e no desktop (Electron).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Agora todo mundo com o navegador aberto. Pode ser Chrome, Edge ou Firefox.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Fazer junto com a turma e só avançar quando todos estiverem com o console aberto.</a:t>
            </a:r>
          </a:p>
          <a:p>
            <a:r>
              <a:t>Se aparecerem mensagens vermelhas de extensões ou do site aberto, ignorar ou abrir uma aba em branco (about:blank).</a:t>
            </a:r>
          </a:p>
          <a:p>
            <a:r>
              <a:t>No Chrome, pode aparecer um aviso pedindo para digitar "allow pasting" antes de colar código: é uma proteção contra golpes. Mais um motivo para digitar.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coding: digitar essas quatro linhas e pedir que a turma preveja cada resposta antes do Enter.</a:t>
            </a:r>
          </a:p>
          <a:p>
            <a:r>
              <a:t>Destacar: o console mostra o valor da última expressão automaticamente. Em arquivo .js, só aparece o que passar por console.log.</a:t>
            </a:r>
          </a:p>
          <a:p>
            <a:r>
              <a:t>Pedir que testem algo com o próprio nome: 'Maria'.length, 'Maria'.toUpperCase().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console.log é a ferramenta de depuração número 1 de todo programador, do estagiário ao sênior.</a:t>
            </a:r>
          </a:p>
          <a:p>
            <a:r>
              <a:t>console.table é ótima para ver listas de objetos: testar console.table([{nome:'Ana', nota:9}, {nome:'Bia', nota:7}]).</a:t>
            </a:r>
          </a:p>
          <a:p>
            <a:r>
              <a:t>console.error e console.warn aparecem destacados e podem ser filtrados no painel.</a:t>
            </a:r>
          </a:p>
          <a:p>
            <a:r>
              <a:t>Na aula de 18/11 vamos além: breakpoints e depuração no painel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console é para experimentar; o que é do projeto vai para arquivo.</a:t>
            </a:r>
          </a:p>
          <a:p>
            <a:r>
              <a:t>Live coding: criar pasta aula-js, index.html com o esqueleto (! + Tab no VS Code) e app.js. Abrir com Live Server e mostrar o 'rodou!' no console.</a:t>
            </a:r>
          </a:p>
          <a:p>
            <a:r>
              <a:t>O atributo defer faz o navegador baixar o script em paralelo e só executá-lo depois de montar todo o HTML. Sem ele, um script no head roda antes de a página existir, e isso gera o erro clássico "Cannot read properties of null", que veremos na aula de DOM (28/10).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conteúdo central do plano de ensino.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coding no console. const declara um nome que não será reatribuído; let declara um nome que pode receber outro valor.</a:t>
            </a:r>
          </a:p>
          <a:p>
            <a:r>
              <a:t>Mostrar que o sinal = é atribuição ("recebe"), não igualdade matemática. pontos = pontos + 10 é "pontos recebe pontos mais dez".</a:t>
            </a:r>
          </a:p>
          <a:p>
            <a:r>
              <a:t>Mostrar o atalho pontos += 10 (voltaremos a ele nos operadores).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Regra prática do mercado: comece sempre com const. Se o código precisar reatribuir, troque para let. Quem lê o código entende na hora quais valores mudam.</a:t>
            </a:r>
          </a:p>
          <a:p>
            <a:r>
              <a:t>var é da época anterior ao ES6. Ele ignora blocos { } e pode ser declarado duas vezes com o mesmo nome sem erro. Vocês vão encontrar var em código antigo e em respostas velhas da internet: reconheçam, mas não usem.</a:t>
            </a:r>
          </a:p>
          <a:p>
            <a:r>
              <a:t>Na aula de 07/10 aprofundamos escopo e vemos por que var "vaza".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Pegadinha frequente em prova e entrevista: const não torna o conteúdo imutável. Ele trava a ligação entre o nome e o valor.</a:t>
            </a:r>
          </a:p>
          <a:p>
            <a:r>
              <a:t>Com arrays e objetos, dá para alterar o conteúdo (push, mudar uma propriedade), mas não dá para apontar o nome para outro array.</a:t>
            </a:r>
          </a:p>
          <a:p>
            <a:r>
              <a:t>Rodar no console e mostrar a mensagem: TypeError: Assignment to constant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Convenções que o mercado espera:</a:t>
            </a:r>
          </a:p>
          <a:p>
            <a:r>
              <a:t>camelCase para variáveis e funções (diasUteis, nomeAluno). MAIÚSCULAS só para constantes de configuração (TAXA_ENTREGA).</a:t>
            </a:r>
          </a:p>
          <a:p>
            <a:r>
              <a:t>Nome bom dispensa comentário. x, d, aux, dados não dizem nada.</a:t>
            </a:r>
          </a:p>
          <a:p>
            <a:r>
              <a:t>Acento funciona em JS, mas evitem em nomes: teclado, busca e colegas de outros países agradecem.</a:t>
            </a:r>
          </a:p>
          <a:p>
            <a:r>
              <a:t>Nome não pode começar com número nem ter espaço ou hífen. Palavras reservadas (let, const, class) não podem ser nomes.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Pedir palpite antes. Depois rodar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TypeError: Assignment to constant variable. const não aceita reatribuição.</a:t>
            </a:r>
          </a:p>
          <a:p>
            <a:r>
              <a:t>Se o valor precisa mudar, a declaração correta é let total =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com mais pegadinhas da aula. Manter o ritmo de "preveja antes de rodar".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JavaScript tem 7 tipos primitivos e o tipo object.</a:t>
            </a:r>
          </a:p>
          <a:p>
            <a:r>
              <a:t>string: texto, com aspas simples, duplas ou crase. number: inteiros e decimais são o mesmo tipo (ponto como separador decimal). boolean: true ou false.</a:t>
            </a:r>
          </a:p>
          <a:p>
            <a:r>
              <a:t>undefined: variável declarada sem valor. null: "vazio de propósito", colocado pelo programador.</a:t>
            </a:r>
          </a:p>
          <a:p>
            <a:r>
              <a:t>bigint e symbol são raros no dia a dia; basta saber que existem.</a:t>
            </a:r>
          </a:p>
          <a:p>
            <a:r>
              <a:t>object: tudo o que não é primitivo, incluindo arrays e funções. Objetos e arrays ganham aulas próprias (14/10 e 21/10).</a:t>
            </a:r>
          </a:p>
          <a:p>
            <a:r>
              <a:t>JavaScript tem tipagem dinâmica: a variável não tem tipo fixo, o valor é que 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coding: pedir para a turma prever cada linha.</a:t>
            </a:r>
          </a:p>
          <a:p>
            <a:r>
              <a:t>typeof null === 'object' é um erro da primeira implementação. Corrigir quebraria sites antigos, então ficou.</a:t>
            </a:r>
          </a:p>
          <a:p>
            <a:r>
              <a:t>typeof [] também dá 'object'; para saber se algo é array, use Array.isArray.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NaN significa Not a Number e aparece quando uma conta com número dá errado: Number('abc'), 0 / 0, 'oi' * 2.</a:t>
            </a:r>
          </a:p>
          <a:p>
            <a:r>
              <a:t>Ele é do tipo number porque representa "um resultado numérico inválido". E NaN nem é igual a si mesmo: NaN === NaN dá false. Para testar, use Number.isNaN(valor).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Deixar a turma votar. Muita gente chuta 3 e 1, ou '21' e '11'.</a:t>
            </a:r>
          </a:p>
          <a:p>
            <a:r>
              <a:t>Só depois rodar no console: '21' e 1. Próximo slide explica por 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operador + tem dois papéis: soma números e concatena (junta) textos. Se um dos lados é string, ele junta.</a:t>
            </a:r>
          </a:p>
          <a:p>
            <a:r>
              <a:t>Os operadores - * / só fazem conta, então convertem o texto para número.</a:t>
            </a:r>
          </a:p>
          <a:p>
            <a:r>
              <a:t>Boa prática: não dependa da conversão automática. Converta você mesmo com Number(), String() ou parseInt/parseFloat.</a:t>
            </a:r>
          </a:p>
          <a:p>
            <a:r>
              <a:t>Number('') dá 0 e Number(null) dá 0: mais duas pegadinhas para 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Duas perguntas diferentes que a turma costuma misturar.</a:t>
            </a:r>
          </a:p>
          <a:p>
            <a:r>
              <a:t>Dinâmica × estática: QUANDO o tipo é verificado. Na dinâmica (JS, Python), na hora de rodar, e a variável pode receber valores de tipos diferentes. Na estática (Java, C#, C, TypeScript), antes de rodar, pelo compilador.</a:t>
            </a:r>
          </a:p>
          <a:p>
            <a:r>
              <a:t>Forte × fraca: a linguagem CONVERTE tipos sozinha quando você mistura? Python recusa ('2' - 1 dá TypeError); JavaScript converte ('2' - 1 dá 1). Por isso JS é dinâmica E fraca.</a:t>
            </a:r>
          </a:p>
          <a:p>
            <a:r>
              <a:t>Nuances: forte/fraca é um espectro, não uma definição formal. Python também converte em casos pontuais (True + 1 dá 2; 1 + 2.5 dá 3.5). E em Java "2" + 1 também dá "21", porque o + com texto concatena por regra; o teste que diferencia é o '2' - 1.</a:t>
            </a:r>
          </a:p>
          <a:p>
            <a:r>
              <a:t>Gancho: TypeScript acrescenta checagem estática por cima do JS e recusa '2' - 1 no editor; depois de compilado, roda com as regras fracas do JS.</a:t>
            </a:r>
          </a:p>
          <a:p>
            <a:r>
              <a:t>Pergunta para a turma: quem veio de Python já levou esse TypeError? Pois é: em JS ele não aparece, e o bug passa calado.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Esse é o bug real mais comum de quem começa: o valor de qualquer campo de formulário é string, mesmo com type="number".</a:t>
            </a:r>
          </a:p>
          <a:p>
            <a:r>
              <a:t>Quando juntarmos JavaScript com a página (DOM, 28/10), isso vai aparecer em todo exercício.</a:t>
            </a:r>
          </a:p>
          <a:p>
            <a:r>
              <a:t>Mostrar no console: const idade = '20'; idade + 1; Number(idade) + 1.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Quando o JS precisa de um verdadeiro/falso (num if, por exemplo), ele converte o valor. Só estes oito viram false.</a:t>
            </a:r>
          </a:p>
          <a:p>
            <a:r>
              <a:t>Pegadinhas: a string '0' é verdadeira (não é vazia), o array vazio [] e o objeto vazio {} também.</a:t>
            </a:r>
          </a:p>
          <a:p>
            <a:r>
              <a:t>Testar no console com Boolean(valor) ou !!valor.</a:t>
            </a:r>
          </a:p>
          <a:p>
            <a:r>
              <a:t>Isso volta na próxima aula, com if/else.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Voto com os dedos. Lembrar a regra do slide de coerção.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12 (número). O * só faz conta, então converte as duas strings para número.</a:t>
            </a:r>
          </a:p>
          <a:p>
            <a:r>
              <a:t>Se fosse '3' + '4', o resultado seria '34'.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Último bloco de conteúdo antes da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Aritméticos: % é o resto da divisão (10 % 3 dá 1; ótimo para saber se é par: n % 2 === 0). ** é potência (2 ** 10 dá 1024).</a:t>
            </a:r>
          </a:p>
          <a:p>
            <a:r>
              <a:t>Comparação: sempre com três sinais (próximo slide). O resultado é boolean.</a:t>
            </a:r>
          </a:p>
          <a:p>
            <a:r>
              <a:t>Lógicos: &amp;&amp; exige que os dois lados sejam verdadeiros; || aceita um; ! inverte.</a:t>
            </a:r>
          </a:p>
          <a:p>
            <a:r>
              <a:t>Atribuição: x += 5 é o mesmo que x = x + 5. ++ soma 1 (contador++).</a:t>
            </a:r>
          </a:p>
          <a:p>
            <a:r>
              <a:t>Live coding: pedir para calcular no console se 2026 é par, e quanto é 2 elevado 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== (igualdade frouxa) aplica a coerção que acabamos de ver antes de comparar, e isso gera resultados difíceis de prever.</a:t>
            </a:r>
          </a:p>
          <a:p>
            <a:r>
              <a:t>O === (igualdade estrita) só é true se o valor e o tipo forem iguais.</a:t>
            </a:r>
          </a:p>
          <a:p>
            <a:r>
              <a:t>Regra do mercado: use sempre === e !==. Ferramentas como o ESLint marcam == como erro por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dois operadores servem para dar um VALOR PADRÃO, usado quando o dado não veio.</a:t>
            </a:r>
          </a:p>
          <a:p>
            <a:r>
              <a:t>valor || padrao usa o padrão se o valor for QUALQUER falsy (0, '', false, null, undefined, NaN).</a:t>
            </a:r>
          </a:p>
          <a:p>
            <a:r>
              <a:t>valor ?? padrao usa o padrão SÓ se o valor for null ou undefined (nullish coalescing, ES2020).</a:t>
            </a:r>
          </a:p>
          <a:p>
            <a:r>
              <a:t>O bug aparece quando 0 é um valor válido: frete grátis é 0, e 0 é falsy. Com ||, a loja joga o 0 fora e cobra o frete padrão de R$ 15.</a:t>
            </a:r>
          </a:p>
          <a:p>
            <a:r>
              <a:t>Ler a tabela linha a linha com a turma: frete não informado, os dois dão 15; frete de 12, os dois dão 12; só no frete grátis eles discordam. É ali que mora o bug.</a:t>
            </a:r>
          </a:p>
          <a:p>
            <a:r>
              <a:t>Outro exemplo do mesmo bug: nota || 'sem nota' mostra "sem nota" para quem tirou zero.</a:t>
            </a:r>
          </a:p>
          <a:p>
            <a:r>
              <a:t>Regra prática: para valor padrão, use 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Template literal é a string com crase (a tecla ao lado do 1 ou junto do acento agudo, dependendo do teclado; às vezes precisa apertar duas vezes).</a:t>
            </a:r>
          </a:p>
          <a:p>
            <a:r>
              <a:t>Dentro de ${ } cabe qualquer expressão: ${idade + 1}, ${nota &gt;= 6}, ${nome.toUpperCase()}.</a:t>
            </a:r>
          </a:p>
          <a:p>
            <a:r>
              <a:t>Vantagens: menos erro de espaço e aspas, e aceita quebra de linha.</a:t>
            </a:r>
          </a:p>
          <a:p>
            <a:r>
              <a:t>Live coding: montar a frase com o nome e a idade de alguém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Notificação do banco, mensagem do delivery, e-mail de confirmação: tudo é template preenchido com dados.</a:t>
            </a:r>
          </a:p>
          <a:p>
            <a:r>
              <a:t>Curiosidade para quem quiser ir além: total.toLocaleString('pt-BR', { style: 'currency', currency: 'BRL' }) formata como R$ 13,00, com vírgula.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Último checkpoint antes da prática. Voto com os dedos. É a linha do meio da tabela do frete.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C. 15 e 0. O || trata 0 como falso e usa o 15; o ?? só troca null/undefined, então o 0 permanece.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Hora da prática. Podem conversar com o colega do lado, mas cada um entrega o seu.</a:t>
            </a:r>
          </a:p>
          <a:p>
            <a:r>
              <a:t>Circular pela sala: o erro mais comum vai ser esquecer de converter texto em número e usar aspas em vez de crase.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Fazer em um arquivo app.js ligado ao index.html (ou direto no console).</a:t>
            </a:r>
          </a:p>
          <a:p>
            <a:r>
              <a:t>Dica de arredondamento: media.toFixed(1) devolve o número como texto com uma casa decimal.</a:t>
            </a:r>
          </a:p>
          <a:p>
            <a:r>
              <a:t>Atenção à precedência: (n1 + n2 + n3) / 3, com parênteses. Sem eles, só n3 é dividido. Esse é o bug mais comum do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Simula o que acontece num formulário real: tudo chega como string.</a:t>
            </a:r>
          </a:p>
          <a:p>
            <a:r>
              <a:t>Solução esperada: const total = Number(precoTxt) * Number(qtdTxt); const desconto = cupom ?? 0; e a mensagem com template literal em várias linhas.</a:t>
            </a:r>
          </a:p>
          <a:p>
            <a:r>
              <a:t>Bônus: console.table({ item: 'Açaí', qtd: 2, total: 37 }).</a:t>
            </a:r>
          </a:p>
          <a:p>
            <a:r>
              <a:t>Quem terminar cedo: trocar o cupom para 5 e conferir se o total com desconto fica certo.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Fechamento: pedir que alguém da turma explique cada um dos três quadrados com as próprias palavras.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Próxima aula (07/10): condicionais (if/else), laços de repetição (for, while), funções, arrow functions e escopo. Vamos resolver problemas em duplas, no esquema piloto e navegador.</a:t>
            </a:r>
          </a:p>
          <a:p>
            <a:r>
              <a:t>Material de apoio: MDN em português (developer.mozilla.org/pt-BR) e Eloquent JavaScript (eloquentjavascript.net), da bibliografia complementar.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aula_30.09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1 · primeiros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30/09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 onde veio o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F12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 console do DevTools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Variáveis: let e const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" 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Tipos de dados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+ 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Operadores e template literals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Mão na massa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Você curte uma foto no Instagram. A página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recarregou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HTML, CSS e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685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&lt;&gt;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6276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HTML estrutura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95681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que existe na página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685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{}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9631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CSS apresenta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2549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como a página aparece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6858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6858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649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JavaScript reage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9417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que acontece quando você interage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3291840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Como vamos aprender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7772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0759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Console aberto a aula toda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36776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é o nosso laboratório de testes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7772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11912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Preveja antes de rodar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48306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chute o resultado, depois confira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7772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930651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Digite, não copie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59835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erro de digitação também ensina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7772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74218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Erro é informação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71365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leia a mensagem vermelha até o fim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De onde veio o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História, mercado, TypeScript e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"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+ 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curiosidade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600" b="1" i="0">
                <a:solidFill>
                  <a:srgbClr val="63A537"/>
                </a:solidFill>
                <a:latin typeface="Calibri"/>
              </a:rPr>
              <a:t>10 dias</a:t>
            </a:r>
          </a:p>
        </p:txBody>
      </p:sp>
      <p:sp>
        <p:nvSpPr>
          <p:cNvPr id="11" name="Oval 10"/>
          <p:cNvSpPr/>
          <p:nvPr/>
        </p:nvSpPr>
        <p:spPr>
          <a:xfrm>
            <a:off x="6751320" y="1051560"/>
            <a:ext cx="228600" cy="22860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2200" b="0" i="0">
                <a:solidFill>
                  <a:srgbClr val="2B2B2B"/>
                </a:solidFill>
                <a:latin typeface="Calibri"/>
              </a:rPr>
              <a:t>foi o tempo para criar o primeiro protótipo do JavaScript, em maio de 1995.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00" b="0" i="0">
                <a:solidFill>
                  <a:srgbClr val="67766C"/>
                </a:solidFill>
                <a:latin typeface="Calibri"/>
              </a:rPr>
              <a:t>Brendan Eich, Netscape · Wirfs-Brock &amp; Eich, "JavaScript: the first 20 years", HOPL 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Uma linha do tempo curta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E2B16"/>
                </a:solidFill>
                <a:latin typeface="Courier New"/>
              </a:rPr>
              <a:t>1995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Nasce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Netscape cria em 10 dias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4884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4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E2B16"/>
                </a:solidFill>
                <a:latin typeface="Courier New"/>
              </a:rPr>
              <a:t>1997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Vira padrão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ECMAScript: regras abertas para todos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E2B16"/>
                </a:solidFill>
                <a:latin typeface="Courier New"/>
              </a:rPr>
              <a:t>2009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Sai do navegador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Node.js roda JS no servidor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3212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E2B16"/>
                </a:solidFill>
                <a:latin typeface="Courier New"/>
              </a:rPr>
              <a:t>2015</a:t>
            </a:r>
          </a:p>
        </p:txBody>
      </p:sp>
      <p:sp>
        <p:nvSpPr>
          <p:cNvPr id="28" name="Oval 27"/>
          <p:cNvSpPr/>
          <p:nvPr/>
        </p:nvSpPr>
        <p:spPr>
          <a:xfrm>
            <a:off x="5989320" y="1280160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3212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Moderniza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ES6: let, const, arrow, classes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1E2B16"/>
                </a:solidFill>
                <a:latin typeface="Courier New"/>
              </a:rPr>
              <a:t>hoje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Todo ano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uma versão nova por ano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685800"/>
            <a:ext cx="6949440" cy="2194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B2B2B"/>
                </a:solidFill>
                <a:latin typeface="Courier New"/>
              </a:rPr>
              <a:t>"Java está para JavaScript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B2B2B"/>
                </a:solidFill>
                <a:latin typeface="Courier New"/>
              </a:rPr>
              <a:t>assim como carro</a:t>
            </a:r>
          </a:p>
          <a:p>
            <a:pPr algn="ctr"/>
            <a:r>
              <a:rPr sz="2800" b="1" i="0">
                <a:solidFill>
                  <a:srgbClr val="2B2B2B"/>
                </a:solidFill>
                <a:latin typeface="Courier New"/>
              </a:rPr>
              <a:t>está para carpete."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O nome foi marketing: em 1995, Java era a linguagem da moda.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Piada clássica da comunidade, atribuída a Chris Heilmann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Onde o JavaScript roda hoje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174879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74879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>
                <a:solidFill>
                  <a:srgbClr val="1E2B16"/>
                </a:solidFill>
                <a:latin typeface="Courier New"/>
              </a:rPr>
              <a:t>www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71221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Navegador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05968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todo site interativo que você usa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74879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74879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71221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Servidor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05968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Node.js, Deno e Bun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350901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50901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>
                <a:solidFill>
                  <a:srgbClr val="1E2B16"/>
                </a:solidFill>
                <a:latin typeface="Courier New"/>
              </a:rPr>
              <a:t>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47243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Celular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1990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apps com React Native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59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937759" y="350901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37759" y="350901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47243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Desktop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1990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VS Code, Discord, Slack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curiosidade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 o tal do TypeScript?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219200"/>
          </a:xfrm>
          <a:prstGeom prst="roundRect">
            <a:avLst>
              <a:gd name="adj" fmla="val 449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926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soma(a, b)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a + b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soma('2', 3) </a:t>
            </a:r>
            <a:r>
              <a:rPr sz="1400" b="1">
                <a:solidFill>
                  <a:srgbClr val="C9D3C0"/>
                </a:solidFill>
                <a:latin typeface="Courier New"/>
              </a:rPr>
              <a:t>// '23'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50919"/>
            <a:ext cx="3520439" cy="8381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Roda 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erra calado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: juntou texto.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TypeScript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soma(a: number,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          b: number)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a + b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soma('2', 3)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erro!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editor avisa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antes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de rodar.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Os frameworks mais usados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61163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61163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57505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2252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Meta, 2013: o mais pedido em vagas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37759" y="161163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61163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57505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Angular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92252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Google, 2016: forte em empresas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09753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09753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100" b="1" i="0">
                <a:solidFill>
                  <a:srgbClr val="1E2B16"/>
                </a:solidFill>
                <a:latin typeface="Courier New"/>
              </a:rPr>
              <a:t>Vue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06095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Vue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0842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Evan You, 2014: curva suave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937759" y="309753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59" y="309753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60954"/>
            <a:ext cx="27431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Svelte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408426"/>
            <a:ext cx="274319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Rich Harris, 2016: leve e enxuto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1480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Todos são JavaScript por baixo.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4233672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Aprenda a dirigir primeiro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3291839" cy="2331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9CB38"/>
                </a:solidFill>
                <a:latin typeface="Calibri"/>
              </a:rPr>
              <a:t>JavaScript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 é saber dirigir.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Framework é o modelo do carro.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CNH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Quem tem CNH dirige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qualquer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carro.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Quem decorou um painel trava no próximo.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afirmação é verdadeira?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Java e JavaScript são a mesma linguagem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navegador executa TypeScript direto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React é escrito em JavaScript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JavaScript só roda no navegador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afirmação é verdadeira?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Java e JavaScript são a mesma linguagem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 navegador executa TypeScript direto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React é escrito em JavaScript</a:t>
            </a:r>
          </a:p>
        </p:txBody>
      </p:sp>
      <p:sp>
        <p:nvSpPr>
          <p:cNvPr id="23" name="Oval 22"/>
          <p:cNvSpPr/>
          <p:nvPr/>
        </p:nvSpPr>
        <p:spPr>
          <a:xfrm>
            <a:off x="4160520" y="3520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JavaScript só roda no navegador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O console do 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laboratório que já vem no navegador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"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+ 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Abrindo o console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F12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Abra o DevTools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ou Ctrl+Shift+J no Chrome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4884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4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Aba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ao lado de Elements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Digite e 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ourier New"/>
              </a:rPr>
              <a:t>2 + 2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responde 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3212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Seta para cima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recupera o comando anterior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⇧↵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08483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Shift+Enter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697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quebra linha sem executar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Console: pergunte e ele responde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DevTools ›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&gt; 2 + 2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756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67766C"/>
                </a:solidFill>
                <a:latin typeface="Courier New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682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&gt; 'Palmares'.length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60903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67766C"/>
                </a:solidFill>
                <a:latin typeface="Courier New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53511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&gt; 'ifpe'.toUpperCase()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46119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67766C"/>
                </a:solidFill>
                <a:latin typeface="Courier New"/>
              </a:rPr>
              <a:t>'IFPE'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38727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&gt; typeof 'oi'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31335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67766C"/>
                </a:solidFill>
                <a:latin typeface="Courier New"/>
              </a:rPr>
              <a:t>'string'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1690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463039"/>
            <a:ext cx="3566160" cy="2880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O console é o seu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laboratório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Teste uma linha antes de colocá-la no código.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Deu diferente do esperado? Ajuste e rode de novo.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Ferramentas do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30759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console.log()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3677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mostra qualquer 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300" b="1" i="0">
                <a:solidFill>
                  <a:srgbClr val="1E2B16"/>
                </a:solidFill>
                <a:latin typeface="Courier New"/>
              </a:rPr>
              <a:t>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11912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console.table()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44830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listas e objetos em tabela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300" b="1" i="0">
                <a:solidFill>
                  <a:srgbClr val="1E2B16"/>
                </a:solidFill>
                <a:latin typeface="Courier New"/>
              </a:rPr>
              <a:t>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930651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console.error()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59835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destaca erros em vermelho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300" b="1" i="0">
                <a:solidFill>
                  <a:srgbClr val="1E2B16"/>
                </a:solidFill>
                <a:latin typeface="Courier New"/>
              </a:rPr>
              <a:t>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74218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console.clear()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071365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limpa a tela · atalho Ctrl+L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38404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14400"/>
            <a:ext cx="429767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Código que fica vai para um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arquivo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.js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, ligado ao HTML.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429767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67766C"/>
                </a:solidFill>
                <a:latin typeface="Courier New"/>
              </a:rPr>
              <a:t>defer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: o script espera o HTML carregar.</a:t>
            </a:r>
          </a:p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Abra com a extensão Live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3566160" cy="2377439"/>
          </a:xfrm>
          <a:prstGeom prst="roundRect">
            <a:avLst>
              <a:gd name="adj" fmla="val 230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609344"/>
            <a:ext cx="3246120" cy="20848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 dirty="0">
                <a:solidFill>
                  <a:srgbClr val="99CB38"/>
                </a:solidFill>
                <a:latin typeface="Courier New"/>
              </a:rPr>
              <a:t>&lt;!-- index.html --&gt;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&lt;body&gt;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  &lt;h1&gt;Olá!&lt;/h1&gt;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  &lt;script </a:t>
            </a:r>
            <a:r>
              <a:rPr sz="1400" b="1" dirty="0" err="1">
                <a:solidFill>
                  <a:srgbClr val="FFFFFF"/>
                </a:solidFill>
                <a:latin typeface="Courier New"/>
              </a:rPr>
              <a:t>src</a:t>
            </a:r>
            <a:r>
              <a:rPr sz="1400" b="1" dirty="0">
                <a:solidFill>
                  <a:srgbClr val="FFFFFF"/>
                </a:solidFill>
                <a:latin typeface="Courier New"/>
              </a:rPr>
              <a:t>="app.js"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          defer&gt;&lt;/script&gt;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&lt;/body&gt;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 dirty="0">
                <a:solidFill>
                  <a:srgbClr val="99CB38"/>
                </a:solidFill>
                <a:latin typeface="Courier New"/>
              </a:rPr>
              <a:t>// app.js</a:t>
            </a:r>
          </a:p>
          <a:p>
            <a:r>
              <a:rPr sz="1400" b="1" dirty="0">
                <a:solidFill>
                  <a:srgbClr val="FFFFFF"/>
                </a:solidFill>
                <a:latin typeface="Courier New"/>
              </a:rPr>
              <a:t>console.log('</a:t>
            </a:r>
            <a:r>
              <a:rPr sz="1400" b="1" dirty="0" err="1">
                <a:solidFill>
                  <a:srgbClr val="FFFFFF"/>
                </a:solidFill>
                <a:latin typeface="Courier New"/>
              </a:rPr>
              <a:t>rodou</a:t>
            </a:r>
            <a:r>
              <a:rPr sz="1400" b="1" dirty="0">
                <a:solidFill>
                  <a:srgbClr val="FFFFFF"/>
                </a:solidFill>
                <a:latin typeface="Courier New"/>
              </a:rPr>
              <a:t>!')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Variáveis: let e const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Dando nome aos valores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"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+ 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206240" cy="3291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Variável é um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nome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que guarda um valor para usar depois.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37360"/>
            <a:ext cx="3657600" cy="1828800"/>
          </a:xfrm>
          <a:prstGeom prst="roundRect">
            <a:avLst>
              <a:gd name="adj" fmla="val 3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1883664"/>
            <a:ext cx="3337560" cy="153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nome = 'Ana'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let pontos = 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pontos = pontos + 10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console.log(nome, pontos)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Ana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const, let e var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const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2763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Use por padrão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56816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nome não troca de valor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554480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9631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Quando o valor vai mudar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825496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contadores, totais, acumuladores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64992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Legado: evite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694176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vaza do bloco e confunde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const não é congelado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3749039" cy="1143000"/>
          </a:xfrm>
          <a:prstGeom prst="roundRect">
            <a:avLst>
              <a:gd name="adj" fmla="val 48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706624"/>
            <a:ext cx="3428999" cy="850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carrinho = []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carrinho.push('açaí')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ok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carrinho = []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TypeError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[#]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2B16"/>
                </a:solidFill>
                <a:latin typeface="Courier New"/>
              </a:rPr>
              <a:t>const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é a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etiqueta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colada na caixa.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Dá para pôr coisas dentro; não dá para trocar a caixa.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Nomes que se explicam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2295144"/>
            <a:ext cx="3291839" cy="7589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x = 1500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let d = 3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let DADOS = 'ana'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83279"/>
            <a:ext cx="35204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Daqui a um mês,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nem você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entende.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74920" y="2295144"/>
            <a:ext cx="3291839" cy="7589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salario = 1500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diasUteis = 3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nomeAluno = 'Ana'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3383279"/>
            <a:ext cx="35204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camelCase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nomes com significado.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acontece ao rodar?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37160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517904"/>
            <a:ext cx="37947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total = 10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total =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total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passa a valer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Dá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TypeError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total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continua 10, sem erro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Nada: o console ignora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acontece ao rodar?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37160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80" y="1517904"/>
            <a:ext cx="37947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total = 10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total =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total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passa a valer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Dá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TypeError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total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continua 10, sem erro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Nada: o console ignora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Tipos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Texto, número, verdadeiro ou falso… e as pegadinhas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"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+ 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7 primitivos + objetos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'Palmares'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1750" y="13716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54630" y="16002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4630" y="21031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42 · 3.14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6300" y="13716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9180" y="16002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boolean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9180" y="21031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0850" y="13716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83730" y="16002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undefined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3730" y="21031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let 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718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fone = null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1750" y="29718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54630" y="32004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bigint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54630" y="37033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10n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6300" y="29718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69180" y="32004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ourier New"/>
              </a:rPr>
              <a:t>symbol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9180" y="37033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Symbol('id')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00850" y="2971800"/>
            <a:ext cx="1885950" cy="1325880"/>
          </a:xfrm>
          <a:prstGeom prst="roundRect">
            <a:avLst>
              <a:gd name="adj" fmla="val 4137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83730" y="320040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urier New"/>
              </a:rPr>
              <a:t>object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3730" y="3703320"/>
            <a:ext cx="161163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{ }  [ 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20624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typeof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responde qual é 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tipo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de um valor.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67766C"/>
                </a:solidFill>
                <a:latin typeface="Courier New"/>
              </a:rPr>
              <a:t>typeof null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dá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object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: bug de 1995 que nunca pôde ser corrigido.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783080"/>
            <a:ext cx="3657600" cy="1737360"/>
          </a:xfrm>
          <a:prstGeom prst="roundRect">
            <a:avLst>
              <a:gd name="adj" fmla="val 315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929384"/>
            <a:ext cx="3337560" cy="14447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typeof 42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'number'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typeof 'oi'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'string'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typeof true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'boolean'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typeof null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'object'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typeof []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'object'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Array.isArray([])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true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685800"/>
            <a:ext cx="6949440" cy="2194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2B2B2B"/>
                </a:solidFill>
                <a:latin typeface="Courier New"/>
              </a:rPr>
              <a:t>typeof NaN</a:t>
            </a:r>
          </a:p>
          <a:p>
            <a:pPr algn="ctr"/>
            <a:r>
              <a:rPr sz="4000" b="1" i="0">
                <a:solidFill>
                  <a:srgbClr val="2B2B2B"/>
                </a:solidFill>
                <a:latin typeface="Courier New"/>
              </a:rPr>
              <a:t>→ 'number'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"Not a Number" é… um número. Bem-vindo ao JavaScript.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Confira no seu console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86868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200" b="1" i="0">
                <a:solidFill>
                  <a:srgbClr val="2B2B2B"/>
                </a:solidFill>
                <a:latin typeface="Calibri"/>
              </a:rPr>
              <a:t>Preveja antes de rodar: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240280"/>
            <a:ext cx="3108960" cy="1249680"/>
          </a:xfrm>
          <a:prstGeom prst="roundRect">
            <a:avLst>
              <a:gd name="adj" fmla="val 439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2386584"/>
            <a:ext cx="2788920" cy="9570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2600" b="1">
                <a:solidFill>
                  <a:srgbClr val="FFFFFF"/>
                </a:solidFill>
                <a:latin typeface="Courier New"/>
              </a:rPr>
              <a:t>'2' + 1</a:t>
            </a:r>
          </a:p>
          <a:p>
            <a:r>
              <a:rPr sz="2600" b="1">
                <a:solidFill>
                  <a:srgbClr val="FFFFFF"/>
                </a:solidFill>
                <a:latin typeface="Courier New"/>
              </a:rPr>
              <a:t>'2' - 1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29767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Quando os tipos se misturam, o JS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converte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sozinho: é a coerção.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29767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67766C"/>
                </a:solidFill>
                <a:latin typeface="Courier New"/>
              </a:rPr>
              <a:t>+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com texto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junta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; os outros operadores fazem conta.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737360"/>
            <a:ext cx="3566160" cy="1828800"/>
          </a:xfrm>
          <a:prstGeom prst="roundRect">
            <a:avLst>
              <a:gd name="adj" fmla="val 3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883664"/>
            <a:ext cx="3246120" cy="1536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'2' + 1  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'21'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'2' - 1  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1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'5' * '2'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10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true + 1 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Number('42')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42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Number('oi')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NaN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Dinâmica, mas fraca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28016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4E6730"/>
                </a:solidFill>
                <a:latin typeface="Courier New"/>
              </a:rPr>
              <a:t>FORTE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128016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1" i="0">
                <a:solidFill>
                  <a:srgbClr val="4E6730"/>
                </a:solidFill>
                <a:latin typeface="Courier New"/>
              </a:rPr>
              <a:t>FRACA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1051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DINÂMICA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051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ESTÁTICA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1691640"/>
            <a:ext cx="1554480" cy="1005840"/>
          </a:xfrm>
          <a:prstGeom prst="roundRect">
            <a:avLst>
              <a:gd name="adj" fmla="val 5454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1691640"/>
            <a:ext cx="1554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39" y="1691640"/>
            <a:ext cx="1554480" cy="1005840"/>
          </a:xfrm>
          <a:prstGeom prst="roundRect">
            <a:avLst>
              <a:gd name="adj" fmla="val 5454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39" y="1691640"/>
            <a:ext cx="1554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alibri"/>
              </a:rPr>
              <a:t>JavaScript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160020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600200" y="2834640"/>
            <a:ext cx="1554480" cy="1005840"/>
          </a:xfrm>
          <a:prstGeom prst="roundRect">
            <a:avLst>
              <a:gd name="adj" fmla="val 5454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2834640"/>
            <a:ext cx="1554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alibri"/>
              </a:rPr>
              <a:t>Java, C#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39" y="2834640"/>
            <a:ext cx="1554480" cy="1005840"/>
          </a:xfrm>
          <a:prstGeom prst="roundRect">
            <a:avLst>
              <a:gd name="adj" fmla="val 5454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39" y="2834640"/>
            <a:ext cx="1554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12801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Python </a:t>
            </a:r>
            <a:r>
              <a:rPr sz="1800" b="1" i="0">
                <a:solidFill>
                  <a:srgbClr val="4E6730"/>
                </a:solidFill>
                <a:latin typeface="Calibri"/>
              </a:rPr>
              <a:t>recusa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1645920"/>
            <a:ext cx="3474720" cy="868680"/>
          </a:xfrm>
          <a:prstGeom prst="roundRect">
            <a:avLst>
              <a:gd name="adj" fmla="val 63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60" y="1792224"/>
            <a:ext cx="3154679" cy="576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&gt;&gt;&gt; '2' - 1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TypeError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6974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JavaScript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converte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063240"/>
            <a:ext cx="3474720" cy="868680"/>
          </a:xfrm>
          <a:prstGeom prst="roundRect">
            <a:avLst>
              <a:gd name="adj" fmla="val 63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0" y="3209544"/>
            <a:ext cx="3154679" cy="576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&gt; '2' - 1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Dinâmica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: tipo checado ao rodar.   </a:t>
            </a:r>
            <a:r>
              <a:rPr sz="1800" b="1" i="0">
                <a:solidFill>
                  <a:srgbClr val="2B2B2B"/>
                </a:solidFill>
                <a:latin typeface="Calibri"/>
              </a:rPr>
              <a:t>Fraca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: converte sozinha.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Todo input é texto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cadastro.html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Sua 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029967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029967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505456"/>
            <a:ext cx="118872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50545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Calcular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7238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Ano que vem você terá </a:t>
            </a:r>
            <a:r>
              <a:rPr sz="1600" b="1" i="0">
                <a:solidFill>
                  <a:srgbClr val="7C2BD0"/>
                </a:solidFill>
                <a:latin typeface="Calibri"/>
              </a:rPr>
              <a:t>201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2133599"/>
          </a:xfrm>
          <a:prstGeom prst="roundRect">
            <a:avLst>
              <a:gd name="adj" fmla="val 2571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176783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2B16"/>
                </a:solidFill>
                <a:latin typeface="Courier New"/>
              </a:rPr>
              <a:t>input.value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sempre chega como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texto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Converta com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Number()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antes de fazer conta.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688080"/>
            <a:ext cx="4023360" cy="838200"/>
          </a:xfrm>
          <a:prstGeom prst="roundRect">
            <a:avLst>
              <a:gd name="adj" fmla="val 654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834384"/>
            <a:ext cx="3703320" cy="545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idade + 1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'201'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Number(idade) + 1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atenção!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600" b="1" i="0">
                <a:solidFill>
                  <a:srgbClr val="63A537"/>
                </a:solidFill>
                <a:latin typeface="Calibri"/>
              </a:rPr>
              <a:t>8</a:t>
            </a:r>
          </a:p>
        </p:txBody>
      </p:sp>
      <p:sp>
        <p:nvSpPr>
          <p:cNvPr id="11" name="Oval 10"/>
          <p:cNvSpPr/>
          <p:nvPr/>
        </p:nvSpPr>
        <p:spPr>
          <a:xfrm>
            <a:off x="1112520" y="1051560"/>
            <a:ext cx="228600" cy="22860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2B2B2B"/>
                </a:solidFill>
                <a:latin typeface="Calibri"/>
              </a:rPr>
              <a:t>valores são </a:t>
            </a:r>
            <a:r>
              <a:rPr sz="2200" b="1" i="0">
                <a:solidFill>
                  <a:srgbClr val="7C2BD0"/>
                </a:solidFill>
                <a:latin typeface="Calibri"/>
              </a:rPr>
              <a:t>falsy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: viram </a:t>
            </a:r>
            <a:r>
              <a:rPr sz="2200" b="1" i="0">
                <a:solidFill>
                  <a:srgbClr val="2B2B2B"/>
                </a:solidFill>
                <a:latin typeface="Courier New"/>
              </a:rPr>
              <a:t>false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 num </a:t>
            </a:r>
            <a:r>
              <a:rPr sz="2200" b="1" i="0">
                <a:solidFill>
                  <a:srgbClr val="2B2B2B"/>
                </a:solidFill>
                <a:latin typeface="Courier New"/>
              </a:rPr>
              <a:t>if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/>
            <a:r>
              <a:rPr sz="2200" b="0" i="0">
                <a:solidFill>
                  <a:srgbClr val="2B2B2B"/>
                </a:solidFill>
                <a:latin typeface="Calibri"/>
              </a:rPr>
              <a:t>Todo o resto é truthy, até </a:t>
            </a:r>
            <a:r>
              <a:rPr sz="2200" b="1" i="0">
                <a:solidFill>
                  <a:srgbClr val="2B2B2B"/>
                </a:solidFill>
                <a:latin typeface="Courier New"/>
              </a:rPr>
              <a:t>'0'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2200" b="1" i="0">
                <a:solidFill>
                  <a:srgbClr val="2B2B2B"/>
                </a:solidFill>
                <a:latin typeface="Courier New"/>
              </a:rPr>
              <a:t>[]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67766C"/>
                </a:solidFill>
                <a:latin typeface="Calibri"/>
              </a:rPr>
              <a:t>MDN Web Docs · Falsy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73152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4E6730"/>
                </a:solidFill>
                <a:latin typeface="Calibri"/>
              </a:rPr>
              <a:t>Os oito: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09728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109728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false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5432" y="109728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85432" y="109728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82880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82880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-0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5432" y="182880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85432" y="182880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0n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56032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25603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''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85432" y="256032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5432" y="256032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null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32918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0" y="329184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85432" y="32918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85432" y="329184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Quanto dá?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242316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2400" b="1">
                <a:solidFill>
                  <a:srgbClr val="FFFFFF"/>
                </a:solidFill>
                <a:latin typeface="Courier New"/>
              </a:rPr>
              <a:t>'3' * '4'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'34'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'12'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Quanto dá?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17904"/>
            <a:ext cx="242316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2400" b="1">
                <a:solidFill>
                  <a:srgbClr val="FFFFFF"/>
                </a:solidFill>
                <a:latin typeface="Courier New"/>
              </a:rPr>
              <a:t>'3' * '4'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'34'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12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'12'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urier New"/>
              </a:rPr>
              <a:t>Operadores e template 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Fazendo conta, comparando e montando texto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"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+ 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Os operadores do dia a 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74879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4879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+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1221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Aritméticos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59686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+ - * / % **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37759" y="174879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74879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712214"/>
            <a:ext cx="2560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Comparação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059686"/>
            <a:ext cx="256031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=== !== &gt; &lt; &gt;= &lt;=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5090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50901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&amp;&amp;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47243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Lógicos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819906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&amp;&amp;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·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||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ou ·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!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937759" y="35090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59" y="350901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+=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472434"/>
            <a:ext cx="2560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Atribuição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819906"/>
            <a:ext cx="256031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= += -= ++ --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Compare com três iguais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9875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0 == ''      </a:t>
            </a:r>
            <a:r>
              <a:rPr sz="1500" b="1">
                <a:solidFill>
                  <a:srgbClr val="C9D3C0"/>
                </a:solidFill>
                <a:latin typeface="Courier New"/>
              </a:rPr>
              <a:t>// true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'1' == 1     </a:t>
            </a:r>
            <a:r>
              <a:rPr sz="1500" b="1">
                <a:solidFill>
                  <a:srgbClr val="C9D3C0"/>
                </a:solidFill>
                <a:latin typeface="Courier New"/>
              </a:rPr>
              <a:t>// true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null == undefined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         </a:t>
            </a:r>
            <a:r>
              <a:rPr sz="1500" b="1">
                <a:solidFill>
                  <a:srgbClr val="C9D3C0"/>
                </a:solidFill>
                <a:latin typeface="Courier New"/>
              </a:rPr>
              <a:t>//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79"/>
            <a:ext cx="3520439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==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converte os tipos antes de comparar.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7589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0 === ''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false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'1' === 1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false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1 === 1     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383279"/>
            <a:ext cx="35204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===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compara valor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e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tipo. Sempre.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Frete grátis que cobra R$ 15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loja.com/checkout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Resumo do pedido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57400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Açaí 500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205740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R$ 18,00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40487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Frete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2404872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Grátis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2798063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2889503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2889503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800" b="1" i="0">
                <a:solidFill>
                  <a:srgbClr val="2B2B2B"/>
                </a:solidFill>
                <a:latin typeface="Calibri"/>
              </a:rPr>
              <a:t>R$ 33,00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74135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O frete era </a:t>
            </a:r>
            <a:r>
              <a:rPr sz="1600" b="1" i="0">
                <a:solidFill>
                  <a:srgbClr val="7C2BD0"/>
                </a:solidFill>
                <a:latin typeface="Calibri"/>
              </a:rPr>
              <a:t>0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mas o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||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cobrou </a:t>
            </a:r>
            <a:r>
              <a:rPr sz="1600" b="1" i="0">
                <a:solidFill>
                  <a:srgbClr val="7C2BD0"/>
                </a:solidFill>
                <a:latin typeface="Calibri"/>
              </a:rPr>
              <a:t>R$ 15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280160"/>
            <a:ext cx="4023360" cy="868680"/>
          </a:xfrm>
          <a:prstGeom prst="roundRect">
            <a:avLst>
              <a:gd name="adj" fmla="val 63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1426464"/>
            <a:ext cx="3703320" cy="57607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pedido.frete || 15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pedido.frete ?? 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304288"/>
            <a:ext cx="1691639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2304288"/>
            <a:ext cx="16916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pedido.frete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304288"/>
            <a:ext cx="10515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230428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||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304288"/>
            <a:ext cx="1051560" cy="384048"/>
          </a:xfrm>
          <a:prstGeom prst="rect">
            <a:avLst/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79" y="230428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?? 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734056"/>
            <a:ext cx="1691639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2734056"/>
            <a:ext cx="1691639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734056"/>
            <a:ext cx="1051560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734056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2734056"/>
            <a:ext cx="1051560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2734056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282696"/>
            <a:ext cx="1691639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3282696"/>
            <a:ext cx="1691639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0 (grátis)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282696"/>
            <a:ext cx="1051560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3282696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15 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3282696"/>
            <a:ext cx="1051560" cy="502920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79" y="3282696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0 ✓</a:t>
            </a:r>
          </a:p>
        </p:txBody>
      </p:sp>
      <p:sp>
        <p:nvSpPr>
          <p:cNvPr id="48" name="Oval 47"/>
          <p:cNvSpPr/>
          <p:nvPr/>
        </p:nvSpPr>
        <p:spPr>
          <a:xfrm>
            <a:off x="8321039" y="3209544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663440" y="3831336"/>
            <a:ext cx="1691639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3440" y="3831336"/>
            <a:ext cx="1691639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831336"/>
            <a:ext cx="1051560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3831336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3831336"/>
            <a:ext cx="1051560" cy="502920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3831336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2B2B2B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Texto com dados: crase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7589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'Olá, ' + nome + '!'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+ ' Você tem 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+ idade + ' anos.'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3279"/>
            <a:ext cx="35204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Aspas e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+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por todo lado.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822960"/>
          </a:xfrm>
          <a:prstGeom prst="roundRect">
            <a:avLst>
              <a:gd name="adj" fmla="val 6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5303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`Olá, ${nome}!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Você tem ${idade} anos.`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154679"/>
            <a:ext cx="3520439" cy="12344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Crase e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${ }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: cabe qualquer expressão.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 mensagem pronta do pedido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WhatsApp · Lanchonete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7C2BD0"/>
                </a:solidFill>
                <a:latin typeface="Calibri"/>
              </a:rPr>
              <a:t>Pedido #1042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12264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2x Coxinha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41448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1x Suco de caju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2816351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2907791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907791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R$ 13,00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55263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enviado às 19:42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1463039"/>
            <a:ext cx="3566160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Todo app monta texto assim: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dados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+ template.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A crase aceita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quebra de linha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3621024"/>
            <a:ext cx="3703320" cy="7589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`Pedido #${num}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${qtd}x Coxinha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Total: R$ ${total}`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137160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83080" y="1517904"/>
            <a:ext cx="56235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frete = 0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console.log(frete || 15, frete ?? 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15 15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15 0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0 15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137160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83080" y="1517904"/>
            <a:ext cx="56235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frete = 0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console.log(frete || 15, frete ?? 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15 15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15 0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3520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0 15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Dois desafios com entrega no Classroom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=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" 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+ 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Boletim no console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nome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três notas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const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Calcule 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media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das três notas.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aprovado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: média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&gt;=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Mostre tudo com template literal.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print do console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nome = 'Ana'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n1 = 7.5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n2 = 8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n3 = 6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sua vez! saída esperada: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Ana: 7.2 | aprovado: true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 conta do açaí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Os valores chegam como </a:t>
            </a:r>
            <a:r>
              <a:rPr sz="1900" b="1" i="0">
                <a:solidFill>
                  <a:srgbClr val="7C2BD0"/>
                </a:solidFill>
                <a:latin typeface="Calibri"/>
              </a:rPr>
              <a:t>texto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Converta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Number()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e calcule o total.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Cupom ausente vale 0: use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??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Monte a mensagem do pedido com crase.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</a:t>
            </a:r>
            <a:r>
              <a:rPr sz="1800" b="1" i="0">
                <a:solidFill>
                  <a:srgbClr val="4E6730"/>
                </a:solidFill>
                <a:latin typeface="Courier New"/>
              </a:rPr>
              <a:t>console.table</a:t>
            </a:r>
            <a:r>
              <a:rPr sz="1800" b="1" i="0">
                <a:solidFill>
                  <a:srgbClr val="4E6730"/>
                </a:solidFill>
                <a:latin typeface="Calibri"/>
              </a:rPr>
              <a:t> do pedido.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precoTxt = '18.50'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qtdTxt = '2'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cupom = null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saída esperada: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2x Açaí = R$ 37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Desconto: R$ 0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1E2B16"/>
                </a:solidFill>
                <a:latin typeface="Courier New"/>
              </a:rPr>
              <a:t>const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const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por padrão;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let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só quando o valor muda.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===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Sempre </a:t>
            </a:r>
            <a:r>
              <a:rPr sz="2100" b="1" i="0">
                <a:solidFill>
                  <a:srgbClr val="2B2B2B"/>
                </a:solidFill>
                <a:latin typeface="Courier New"/>
              </a:rPr>
              <a:t>===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. E converta o que vem do input.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${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Template literals montam texto com dados.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Decisões, repetições e funções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07/10 · live coding e problemas em duplas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Revise: MDN · Primeiros passos com JavaScript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Exercícios da aula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6244</Words>
  <Application>Microsoft Office PowerPoint</Application>
  <PresentationFormat>Apresentação na tela (16:9)</PresentationFormat>
  <Paragraphs>789</Paragraphs>
  <Slides>51</Slides>
  <Notes>51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Thiago Araujo</cp:lastModifiedBy>
  <cp:revision>1</cp:revision>
  <dcterms:created xsi:type="dcterms:W3CDTF">2013-01-27T09:14:16Z</dcterms:created>
  <dcterms:modified xsi:type="dcterms:W3CDTF">2026-09-30T22:39:05Z</dcterms:modified>
  <cp:category/>
</cp:coreProperties>
</file>