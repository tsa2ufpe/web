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Quinta aula do bloco de JavaScript. Plano de ensino: DOM, com seleção, criação e alteração de elementos, e renderização de listas a partir de dados.</a:t>
            </a:r>
          </a:p>
          <a:p>
            <a:r>
              <a:t>Estratégia: live coding e atividade prática guiada. É a aula em que tudo se junta: os arrays de objetos, o JSON e as funções das aulas anteriores finalmente aparecem na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blocos 1 a 5 são live coding curto; o bloco 6 é a prática guiada, em que a turma monta o cardápio da lanchonete na tela.</a:t>
            </a:r>
          </a:p>
          <a:p>
            <a:r>
              <a:t>Eventos (cliques, formulários) ficam para 04/11. Hoje o JS roda ao carregar a página e no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Retomada de JSON (21/10) e de typeof (30/09).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'object'. O parse devolveu um array de verdade, e typeof de array é 'object' (lembram da primeira aula?). Para testar se é array: Array.isArray.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Retomar a pergunta da primeira aula (a curtida no Instagram). Agora a turma já sabe a linguagem; falta saber como o JS chega na página.</a:t>
            </a:r>
          </a:p>
          <a:p>
            <a:r>
              <a:t>Resposta: o JavaScript alterou o DOM, a representação da página na memória do navegador. É o assunto de hoje.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Primeiro bloco. Retomar o módulo 01 (Hélio falou do DOM ao explicar como o navegador renderiza).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DOM (Document Object Model): o navegador lê o HTML e monta na memória uma árvore de objetos. Cada tag vira um nó; tags dentro de tags viram filhos.</a:t>
            </a:r>
          </a:p>
          <a:p>
            <a:r>
              <a:t>document é a raiz, o ponto de entrada para tudo o que vamos fazer hoje.</a:t>
            </a:r>
          </a:p>
          <a:p>
            <a:r>
              <a:t>Existem também nós de texto (o "Açaí" dentro do li é um nó filho do li). No dia a dia, trabalhamos com os elementos.</a:t>
            </a:r>
          </a:p>
          <a:p>
            <a:r>
              <a:t>Live coding: abrir DevTools › Elements em qualquer página e mostrar a árvore. Passar o mouse por cima destaca o elemento na tela.</a:t>
            </a:r>
          </a:p>
          <a:p>
            <a:r>
              <a:t>Ponto-chave: o JS não edita o arquivo HTML. Ele altera essa árvore; o navegador redesenha a tela.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 coding divertido: abrir o site do IFPE (ou qualquer outro), colar essas linhas no console e ver a página mudar.</a:t>
            </a:r>
          </a:p>
          <a:p>
            <a:r>
              <a:t>Ninguém "hackeou" nada: a alteração existe só na memória do seu navegador. Apertou F5, o navegador baixa o HTML de novo e monta um DOM novo.</a:t>
            </a:r>
          </a:p>
          <a:p>
            <a:r>
              <a:t>Boa hora para falar de ética: prints de páginas "alteradas" assim circulam como fake news. O DOM se edita em segundos.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 defer, o navegador para de ler o HTML, baixa e executa o script. Nesse momento o body ainda não existe, então querySelector devolve null e a próxima linha quebra.</a:t>
            </a:r>
          </a:p>
          <a:p>
            <a:r>
              <a:t>defer (visto na primeira aula) manda baixar em paralelo e executar só depois de montar o DOM. Alternativa antiga: pôr o script no fim do body.</a:t>
            </a:r>
          </a:p>
          <a:p>
            <a:r>
              <a:t>Esse é o erro número 1 da aula de hoje. Quando aparecer "Cannot read properties of null", a primeira pergunta é: o elemento existe quando o script roda?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Respiro que fixa o slide anterior. Se o seletor está certo e o elemento existe no HTML, o null quase sempre é o script rodando antes da hora.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Segundo bloco. A turma já domina seletores CSS (aulas do Hélio); aqui eles viram argumento de função.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querySelector aceita qualquer seletor CSS: id (#), classe (.), tag, descendente, atributo ([data-id]), pseudo-classe (:first-child).</a:t>
            </a:r>
          </a:p>
          <a:p>
            <a:r>
              <a:t>Devolve o primeiro elemento que casar ou null se nenhum casar.</a:t>
            </a:r>
          </a:p>
          <a:p>
            <a:r>
              <a:t>querySelectorAll devolve todos, numa NodeList.</a:t>
            </a:r>
          </a:p>
          <a:p>
            <a:r>
              <a:t>Live coding: no HTML do cardápio, selecionar a ul, o primeiro li e todos os li. Mostrar no console que o elemento aparece destacado ao passar o mouse.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prática, querySelector e querySelectorAll resolvem tudo. getElementById é antigo e um pouco mais rápido, mas a diferença não importa em páginas comuns.</a:t>
            </a:r>
          </a:p>
          <a:p>
            <a:r>
              <a:t>Buscar dentro de um elemento (form.querySelector('input')) evita pegar um input de outro formulário da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NodeList tem length, índice e forEach, mas não tem map, filter, reduce.</a:t>
            </a:r>
          </a:p>
          <a:p>
            <a:r>
              <a:t>Spread ([...lista]) ou Array.from(lista) transformam em array, e aí vale tudo da aula de 14/10.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sobre o retorno quando nada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null. querySelector não lança erro quando não acha; devolve null. O erro vem na linha seguinte, ao tentar usar o null (null.textContent).</a:t>
            </a:r>
          </a:p>
          <a:p>
            <a:r>
              <a:t>querySelectorAll, quando não acha, devolve uma NodeList vazia (length 0), não null.</a:t>
            </a:r>
          </a:p>
          <a:p>
            <a:r>
              <a:t>Proteção: o ?. da aula de objetos. document.querySelector('.card')?.remove().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Terceiro bloco. Inclui o slide de segurança mais importante do bloco de JS: innerHTML e XSS.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textContent lê e escreve o texto do elemento, sem interpretar HTML.</a:t>
            </a:r>
          </a:p>
          <a:p>
            <a:r>
              <a:t>classList.add/remove/toggle/contains: liga e desliga classes definidas no CSS.</a:t>
            </a:r>
          </a:p>
          <a:p>
            <a:r>
              <a:t>setAttribute/getAttribute para qualquer atributo; atributos comuns também têm propriedade direta (img.src, a.href, input.value).</a:t>
            </a:r>
          </a:p>
          <a:p>
            <a:r>
              <a:t>dataset lê e escreve atributos data-*: t.dataset.id vira data-id. Útil para guardar o id do item (vamos usar muito na aula de eventos).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Separação de responsabilidades, que a turma conhece desde HTML e CSS: estrutura, apresentação e comportamento.</a:t>
            </a:r>
          </a:p>
          <a:p>
            <a:r>
              <a:t>Com classes, o designer muda a cor no CSS sem tocar no JS, e o tema escuro, as media queries e a especificidade continuam funcionando.</a:t>
            </a:r>
          </a:p>
          <a:p>
            <a:r>
              <a:t>style direto serve para valores calculados na hora (posição de um elemento arrastado, largura de uma barra de progresso).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innerHTML interpreta a string como HTML. Se a string contém dado vindo de fora (campo, URL, API, localStorage), um atacante pode injetar código: é o XSS (Cross-Site Scripting).</a:t>
            </a:r>
          </a:p>
          <a:p>
            <a:r>
              <a:t>O exemplo: uma imagem com src inválido dispara onerror, que executa JavaScript. No lugar do alert, um atacante lê cookies, faz requisições em nome da vítima, redireciona para página falsa.</a:t>
            </a:r>
          </a:p>
          <a:p>
            <a:r>
              <a:t>Regra prática: innerHTML só com texto que você mesmo escreveu. Dado de fora: textContent ou createElement (próximo bloco).</a:t>
            </a:r>
          </a:p>
          <a:p>
            <a:r>
              <a:t>Curiosidade: a prática 05 do repositório da disciplina (05-dom-intermediario.html) monta a lista de tarefas com innerHTML e o texto digitado. Vale pedir para a turma encontrar e explorar a falha.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Cenário real: campo de comentário, nome de usuário, título de anúncio. Se o site salva o texto e depois o exibe com innerHTML, o ataque roda no navegador de todo visitante (XSS armazenado).</a:t>
            </a:r>
          </a:p>
          <a:p>
            <a:r>
              <a:t>A OWASP, referência mundial em segurança web, lista a injeção (que inclui XSS) entre os riscos mais críticos de aplicações web.</a:t>
            </a:r>
          </a:p>
          <a:p>
            <a:r>
              <a:t>Frameworks como React escapam o texto por padrão; justamente por isso, a opção de inserir HTML cru no React se chama dangerouslySetInnerHTML.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 do bloco de alteração.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B. textContent. Os outros três interpretam a string como HTML e abrem espaço para XSS.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Quarto bloco. createElement é a alternativa segura e controlada ao innerHTML.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createElement cria o elemento na memória, fora da página. Ele só aparece quando é inserido na árvore (append).</a:t>
            </a:r>
          </a:p>
          <a:p>
            <a:r>
              <a:t>Como o texto entra por textContent, não há risco de XSS.</a:t>
            </a:r>
          </a:p>
          <a:p>
            <a:r>
              <a:t>Live coding: criar o li do Pastel no console da página do cardápio, inserir, ver aparecer, remover.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 e prepend aceitam vários elementos (e texto) de uma vez: lista.append(li1, li2).</a:t>
            </a:r>
          </a:p>
          <a:p>
            <a:r>
              <a:t>before/after inserem como irmão. remove tira o próprio elemento.</a:t>
            </a:r>
          </a:p>
          <a:p>
            <a:r>
              <a:t>replaceChildren() sem argumentos esvazia o elemento; com argumentos, troca todo o conteúdo. É o que vamos usar para redesenhar listas.</a:t>
            </a:r>
          </a:p>
          <a:p>
            <a:r>
              <a:t>Em código antigo vocês vão ver appendChild e removeChild: fazem o mesmo, com mais cerimônia.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Pegadinha: leia com calma.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C. Em lugar nenhum. O li foi criado e preenchido, mas nunca inserido: faltou ul.append(li).</a:t>
            </a:r>
          </a:p>
          <a:p>
            <a:r>
              <a:t>Elemento criado e não inserido é o segundo erro mais comum da aula, depois do null.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Quinto bloco: o padrão que todo framework usa. Os dados mudam; uma função redesenha a tela a partir deles.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 vez de ficar caçando qual li alterar, a gente muda o array e chama uma função que apaga a lista e desenha tudo de novo a partir dos dados.</a:t>
            </a:r>
          </a:p>
          <a:p>
            <a:r>
              <a:t>É mais simples de raciocinar: a tela sempre corresponde exatamente ao array.</a:t>
            </a:r>
          </a:p>
          <a:p>
            <a:r>
              <a:t>É a ideia central do React, do Vue e do Angular: a interface é função do estado. Os frameworks só fazem isso de forma mais eficiente.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Ler de cima para baixo com a turma.</a:t>
            </a:r>
          </a:p>
          <a:p>
            <a:r>
              <a:t>1) Os dados vivem no array cardapio (poderiam vir de um JSON, como na aula passada, ou de uma API, em 11/11).</a:t>
            </a:r>
          </a:p>
          <a:p>
            <a:r>
              <a:t>2) renderizar começa com replaceChildren(): sem isso, cada chamada duplicaria a lista.</a:t>
            </a:r>
          </a:p>
          <a:p>
            <a:r>
              <a:t>3) Para cada item, um li novo com textContent (seguro contra XSS) e append na lista.</a:t>
            </a:r>
          </a:p>
          <a:p>
            <a:r>
              <a:t>renderizar recebe o array como parâmetro: assim dá para chamar renderizar(cardapio) ou renderizar(cardapio.filter(...)).</a:t>
            </a:r>
          </a:p>
          <a:p>
            <a:r>
              <a:t>Live coding: rodar, depois fazer cardapio.push({ nome: 'Pastel', preco: 8 }) no console e chamar renderizar(cardapio) de novo.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padrão da esquerda aparece em muito tutorial: concatenar HTML com innerHTML +=. Problemas: cada += faz o navegador reinterpretar a lista inteira, e o nome do item vai cru para dentro do HTML (XSS se vier de fora).</a:t>
            </a:r>
          </a:p>
          <a:p>
            <a:r>
              <a:t>A direita junta três aulas: arrow function (07/10), map e spread (14/10) e createElement (hoje). replaceChildren com vários argumentos troca todo o conteúdo de uma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filtro não esconde elementos da tela: ele gera outro array e desenha de novo. O array original, cardapio, continua intacto (não mutar, aula de 14/10).</a:t>
            </a:r>
          </a:p>
          <a:p>
            <a:r>
              <a:t>Na aula de eventos, esse código vai para dentro de um addEventListener('click', ...) do botão.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Pergunta de raciocínio sobre o replaceChildren.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A. Itens duplicados: o segundo renderizar acrescenta todos os li de novo no fim da lista.</a:t>
            </a:r>
          </a:p>
          <a:p>
            <a:r>
              <a:t>Por isso a primeira linha de todo renderizar é limpar.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Segunda metade da aula. Prática guiada: eu faço cada etapa no projetor, a turma reproduz, e só avançamos quando todos estiverem com a etapa funcionando.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Tempo sugerido: 10 minutos por etapa, com checagem ("levanta a mão quem já está vendo a lista").</a:t>
            </a:r>
          </a:p>
          <a:p>
            <a:r>
              <a:t>As etapas 1 a 4 são o desafio 1; a etapa 5 é o desafio 2. O desafio 3 (auditoria de XSS) fica para quem terminar ou para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Total: 5 + 8 + 18 = 31. O total vai num elemento separado (um p ou um tfoot), preenchido com textContent.</a:t>
            </a:r>
          </a:p>
          <a:p>
            <a:r>
              <a:t>Erros esperados: esquecer o defer (null), esquecer o append (nada aparece), crase do template literal trocada por aspas.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Dentro do renderizar: if (item.preco &gt; 15) li.classList.add('destaque'); if (item.esgotado) li.classList.add('esgotado').</a:t>
            </a:r>
          </a:p>
          <a:p>
            <a:r>
              <a:t>Ou, mais enxuto: li.classList.toggle('destaque', item.preco &gt; 15), com o segundo argumento dizendo se liga ou desliga.</a:t>
            </a:r>
          </a:p>
          <a:p>
            <a:r>
              <a:t>Bônus: itens.filter(i =&gt; !i.esgotado).length num p separado.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termo vem da URL (?busca=...). Um atacante manda para a vítima um link com o código na busca; ao abrir, o script roda no site legítimo (XSS refletido).</a:t>
            </a:r>
          </a:p>
          <a:p>
            <a:r>
              <a:t>Correção: criar o h2 com createElement e textContent, ou usar textContent direto no h2 existente.</a:t>
            </a:r>
          </a:p>
          <a:p>
            <a:r>
              <a:t>Teste: abrir a página com ?busca=&lt;img src=x onerror=alert(1)&gt; antes e depois da correção.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Fechamento: perguntar qual foi o erro que cada um mais cometeu hoje (null, esquecer append, innerHTML). Anotar no quadro: é a lista de verificação para a próxima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Próxima aula (04/11): eventos e delegação de eventos, validação de formulários e acessibilidade em componentes dinâmicos (ARIA).</a:t>
            </a:r>
          </a:p>
          <a:p>
            <a:r>
              <a:t>É a última aula do módulo de JavaScript básico: o cardápio de hoje vai ganhar botões, busca e formulário.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94960" y="0"/>
            <a:ext cx="3749039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986104"/>
            <a:ext cx="2926080" cy="11712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aula_28.10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  <a:latin typeface="Courier New"/>
              </a:rPr>
              <a:t>JavaScript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400" b="1" i="0">
                <a:solidFill>
                  <a:srgbClr val="99CB38"/>
                </a:solidFill>
                <a:latin typeface="Calibri"/>
              </a:rPr>
              <a:t>Parte 5 · o DOM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C9D3C0"/>
                </a:solidFill>
                <a:latin typeface="Calibri"/>
              </a:rPr>
              <a:t>Desenvolvimento de Sistemas Web · 28/10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576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Prof. Thiago Araújo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77639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IFPE Campus Palmares · ADS 3º período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mapa_da_aula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Mapa da aula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&lt;/&gt;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O que é o DOM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6136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424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4424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4424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#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5864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Selecionar elementos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65520" y="13716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8400" y="15087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48400" y="18288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8400" y="18288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txt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62800" y="15544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Alterar elementos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Criar e remover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26136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4424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4424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44424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5864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Listas a partir de dados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65520" y="2971800"/>
            <a:ext cx="2621280" cy="1417320"/>
          </a:xfrm>
          <a:prstGeom prst="roundRect">
            <a:avLst>
              <a:gd name="adj" fmla="val 387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8400" y="31089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400" b="1" i="0">
                <a:solidFill>
                  <a:srgbClr val="4E6730"/>
                </a:solidFill>
                <a:latin typeface="Courier New"/>
              </a:rPr>
              <a:t>06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48400" y="342900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48400" y="3429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62800" y="3154680"/>
            <a:ext cx="1386840" cy="1051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Prática guiada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Aquecimento: o que o console mostra?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37160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517904"/>
            <a:ext cx="480059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typeof JSON.parse('[1, 2]')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'string'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'object'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'array'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'number'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Aquecimento: o que o console mostra?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1371600"/>
            <a:ext cx="512064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1517904"/>
            <a:ext cx="480059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typeof JSON.parse('[1, 2]')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'string'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'object'</a:t>
            </a:r>
          </a:p>
        </p:txBody>
      </p:sp>
      <p:sp>
        <p:nvSpPr>
          <p:cNvPr id="21" name="Oval 20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'array'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'number'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380744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pergunta?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88720"/>
            <a:ext cx="7315200" cy="23774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3600" b="1" i="0">
                <a:solidFill>
                  <a:srgbClr val="2B2B2B"/>
                </a:solidFill>
                <a:latin typeface="Calibri"/>
              </a:rPr>
              <a:t>O número do carrinho muda sem recarregar. </a:t>
            </a:r>
            <a:r>
              <a:rPr sz="3600" b="1" i="0">
                <a:solidFill>
                  <a:srgbClr val="7C2BD0"/>
                </a:solidFill>
                <a:latin typeface="Calibri"/>
              </a:rPr>
              <a:t>Quem</a:t>
            </a:r>
            <a:r>
              <a:rPr sz="3600" b="1" i="0">
                <a:solidFill>
                  <a:srgbClr val="2B2B2B"/>
                </a:solidFill>
                <a:latin typeface="Calibri"/>
              </a:rPr>
              <a:t> mexeu na página?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O que é o DOM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A página como uma árvore de objetos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&lt;/&gt;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HTML vira uma árvore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25880"/>
            <a:ext cx="3566160" cy="2331720"/>
          </a:xfrm>
          <a:prstGeom prst="roundRect">
            <a:avLst>
              <a:gd name="adj" fmla="val 235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72184"/>
            <a:ext cx="3246120" cy="20391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500" b="1">
                <a:solidFill>
                  <a:srgbClr val="FFFFFF"/>
                </a:solidFill>
                <a:latin typeface="Courier New"/>
              </a:rPr>
              <a:t>&lt;body&gt;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&lt;h1&gt;Cardápio&lt;/h1&gt;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&lt;ul id="lista"&gt;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&lt;li&gt;Açaí&lt;/li&gt;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  &lt;li&gt;Coxinha&lt;/li&gt;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  &lt;/ul&gt;</a:t>
            </a:r>
          </a:p>
          <a:p>
            <a:r>
              <a:rPr sz="1500" b="1">
                <a:solidFill>
                  <a:srgbClr val="FFFFFF"/>
                </a:solidFill>
                <a:latin typeface="Courier New"/>
              </a:rPr>
              <a:t>&lt;/body&gt;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1764792"/>
            <a:ext cx="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5486400" y="2450592"/>
            <a:ext cx="91440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400800" y="2450592"/>
            <a:ext cx="91440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6720840" y="3136392"/>
            <a:ext cx="59436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315200" y="3136392"/>
            <a:ext cx="594360" cy="246888"/>
          </a:xfrm>
          <a:prstGeom prst="line">
            <a:avLst/>
          </a:prstGeom>
          <a:ln w="1905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875020" y="13258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875020" y="132588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urier New"/>
              </a:rPr>
              <a:t>document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75020" y="20116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5020" y="201168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body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60620" y="26974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60620" y="269748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h1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9420" y="26974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89420" y="269748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1E2B16"/>
                </a:solidFill>
                <a:latin typeface="Courier New"/>
              </a:rPr>
              <a:t>ul#lista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5059" y="33832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5059" y="338328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li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83780" y="3383280"/>
            <a:ext cx="1051560" cy="438912"/>
          </a:xfrm>
          <a:prstGeom prst="roundRect">
            <a:avLst>
              <a:gd name="adj" fmla="val 12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83780" y="3383280"/>
            <a:ext cx="10515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2B2B2B"/>
                </a:solidFill>
                <a:latin typeface="Courier New"/>
              </a:rPr>
              <a:t>li</a:t>
            </a:r>
          </a:p>
        </p:txBody>
      </p:sp>
      <p:sp>
        <p:nvSpPr>
          <p:cNvPr id="30" name="Oval 29"/>
          <p:cNvSpPr/>
          <p:nvPr/>
        </p:nvSpPr>
        <p:spPr>
          <a:xfrm>
            <a:off x="7731252" y="2624328"/>
            <a:ext cx="182880" cy="182880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0" i="0">
                <a:solidFill>
                  <a:srgbClr val="2B2B2B"/>
                </a:solidFill>
                <a:latin typeface="Calibri"/>
              </a:rPr>
              <a:t>Cada tag vira um </a:t>
            </a:r>
            <a:r>
              <a:rPr sz="2000" b="1" i="0">
                <a:solidFill>
                  <a:srgbClr val="7C2BD0"/>
                </a:solidFill>
                <a:latin typeface="Calibri"/>
              </a:rPr>
              <a:t>objeto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 que o JavaScript pode ler e mudar.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Mude qualquer site (só no seu)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ifpe.edu.br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Campus Palmares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9456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Inscrições abertas para 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23744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processo seletivo 2027.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944368"/>
            <a:ext cx="137160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2944368"/>
            <a:ext cx="137160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Saiba mais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280160"/>
            <a:ext cx="4023360" cy="1706879"/>
          </a:xfrm>
          <a:prstGeom prst="roundRect">
            <a:avLst>
              <a:gd name="adj" fmla="val 3214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39"/>
            <a:ext cx="3566160" cy="134111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O DOM é a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cópia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da página no seu navegador.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Mudou pelo console? Some no F5.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261360"/>
            <a:ext cx="4023360" cy="1264920"/>
          </a:xfrm>
          <a:prstGeom prst="roundRect">
            <a:avLst>
              <a:gd name="adj" fmla="val 433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407664"/>
            <a:ext cx="3703320" cy="97231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document.body.style.background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= 'pink'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document.querySelector('h1')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.textContent = 'Hackeei!'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Onde colocar o script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&lt;head&gt;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&lt;script src="app.js"&gt;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&lt;/script&gt;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&lt;/head&gt;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&lt;!-- roda cedo demais --&gt;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Erro: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Cannot read properties of null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&lt;head&gt;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&lt;script src="app.js"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      defer&gt;&lt;/script&gt;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&lt;/head&gt;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&lt;!-- espera o HTML --&gt;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defer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: roda depois de montar a página.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Oval 2"/>
          <p:cNvSpPr/>
          <p:nvPr/>
        </p:nvSpPr>
        <p:spPr>
          <a:xfrm>
            <a:off x="770839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502920"/>
            <a:ext cx="7498079" cy="3383280"/>
          </a:xfrm>
          <a:prstGeom prst="rect">
            <a:avLst/>
          </a:prstGeom>
          <a:solidFill>
            <a:srgbClr val="FFFFFF"/>
          </a:solidFill>
          <a:ln w="2222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685800"/>
            <a:ext cx="6217920" cy="21945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2B2B2B"/>
                </a:solidFill>
                <a:latin typeface="Courier New"/>
              </a:rPr>
              <a:t>document.querySelector('#btn')</a:t>
            </a:r>
          </a:p>
          <a:p>
            <a:pPr algn="l"/>
            <a:r>
              <a:rPr sz="2600" b="1" i="0">
                <a:solidFill>
                  <a:srgbClr val="2B2B2B"/>
                </a:solidFill>
                <a:latin typeface="Courier New"/>
              </a:rPr>
              <a:t>→ null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926080"/>
            <a:ext cx="694944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0" i="1">
                <a:solidFill>
                  <a:srgbClr val="67766C"/>
                </a:solidFill>
                <a:latin typeface="Calibri"/>
              </a:rPr>
              <a:t>O botão existe. Seu script é que chegou cedo demais.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977639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/>
            <a:r>
              <a:rPr sz="1000" b="0" i="0">
                <a:solidFill>
                  <a:srgbClr val="67766C"/>
                </a:solidFill>
                <a:latin typeface="Calibri"/>
              </a:rPr>
              <a:t>Todo iniciante, pelo menos uma vez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Selecionar elementos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Os seletores do CSS voltam à cena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7C2BD0"/>
                </a:solidFill>
                <a:latin typeface="Courier New"/>
              </a:rPr>
              <a:t>&gt; conceito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914400"/>
            <a:ext cx="3657600" cy="32918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0" i="0">
                <a:solidFill>
                  <a:srgbClr val="2B2B2B"/>
                </a:solidFill>
                <a:latin typeface="Calibri"/>
              </a:rPr>
              <a:t>Para mudar algo, primeiro </a:t>
            </a:r>
            <a:r>
              <a:rPr sz="2800" b="1" i="0">
                <a:solidFill>
                  <a:srgbClr val="7C2BD0"/>
                </a:solidFill>
                <a:latin typeface="Calibri"/>
              </a:rPr>
              <a:t>selecione</a:t>
            </a:r>
            <a:r>
              <a:rPr sz="2800" b="0" i="0">
                <a:solidFill>
                  <a:srgbClr val="2B2B2B"/>
                </a:solidFill>
                <a:latin typeface="Calibri"/>
              </a:rPr>
              <a:t>, com os seletores CSS que você já sabe.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889759"/>
            <a:ext cx="4206240" cy="1524000"/>
          </a:xfrm>
          <a:prstGeom prst="roundRect">
            <a:avLst>
              <a:gd name="adj" fmla="val 359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036064"/>
            <a:ext cx="3886199" cy="12313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document.querySelector('#lista')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document.querySelector('.preco')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document.querySelector('ul li')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document.querySelectorAll('li')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NodeList com todos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Formas de selecionar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74879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4879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71221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querySelector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205968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primeiro que casar (ou null)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59" y="174879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74879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171221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querySelectorAll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205968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todos, numa NodeList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50901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50901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#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47243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getElementById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81990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só por id, o mais rápido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086100"/>
            <a:ext cx="3977639" cy="1485900"/>
          </a:xfrm>
          <a:prstGeom prst="roundRect">
            <a:avLst>
              <a:gd name="adj" fmla="val 369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350901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50901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47243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el.querySelector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381990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procura só dentro de 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NodeList não é array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356360"/>
          </a:xfrm>
          <a:prstGeom prst="roundRect">
            <a:avLst>
              <a:gd name="adj" fmla="val 4044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063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itens = document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.querySelectorAll('li')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itens.map(li =&gt; li.textContent)</a:t>
            </a:r>
          </a:p>
          <a:p>
            <a:r>
              <a:rPr sz="1300" b="1">
                <a:solidFill>
                  <a:srgbClr val="C9D3C0"/>
                </a:solidFill>
                <a:latin typeface="Courier New"/>
              </a:rPr>
              <a:t>// TypeError: itens.map</a:t>
            </a:r>
          </a:p>
          <a:p>
            <a:r>
              <a:rPr sz="1300" b="1">
                <a:solidFill>
                  <a:srgbClr val="C9D3C0"/>
                </a:solidFill>
                <a:latin typeface="Courier New"/>
              </a:rPr>
              <a:t>// is not a function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88080"/>
            <a:ext cx="3520439" cy="701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Parece array, mas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não é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158240"/>
          </a:xfrm>
          <a:prstGeom prst="roundRect">
            <a:avLst>
              <a:gd name="adj" fmla="val 473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8656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itens = [...document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.querySelectorAll('li')]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itens.map(li =&gt; li.textContent)</a:t>
            </a:r>
          </a:p>
          <a:p>
            <a:r>
              <a:rPr sz="1300" b="1">
                <a:solidFill>
                  <a:srgbClr val="99CB38"/>
                </a:solidFill>
                <a:latin typeface="Courier New"/>
              </a:rPr>
              <a:t>// ['Açaí', 'Coxinha']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489960"/>
            <a:ext cx="3520439" cy="89915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spread transforma em array de verdade.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Não há nenhum </a:t>
            </a:r>
            <a:r>
              <a:rPr sz="2400" b="1" i="0">
                <a:solidFill>
                  <a:srgbClr val="2B2B2B"/>
                </a:solidFill>
                <a:latin typeface="Courier New"/>
              </a:rPr>
              <a:t>.card</a:t>
            </a:r>
            <a:r>
              <a:rPr sz="2400" b="1" i="0">
                <a:solidFill>
                  <a:srgbClr val="2B2B2B"/>
                </a:solidFill>
                <a:latin typeface="Calibri"/>
              </a:rPr>
              <a:t> na página. 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document.querySelector('.card')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null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882127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Não há nenhum </a:t>
            </a:r>
            <a:r>
              <a:rPr sz="2400" b="1" i="0">
                <a:solidFill>
                  <a:srgbClr val="2B2B2B"/>
                </a:solidFill>
                <a:latin typeface="Courier New"/>
              </a:rPr>
              <a:t>.card</a:t>
            </a:r>
            <a:r>
              <a:rPr sz="2400" b="1" i="0">
                <a:solidFill>
                  <a:srgbClr val="2B2B2B"/>
                </a:solidFill>
                <a:latin typeface="Calibri"/>
              </a:rPr>
              <a:t> na página. O que retorna?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371600"/>
            <a:ext cx="5486400" cy="640080"/>
          </a:xfrm>
          <a:prstGeom prst="roundRect">
            <a:avLst>
              <a:gd name="adj" fmla="val 857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1517904"/>
            <a:ext cx="5166359" cy="3474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800" b="1">
                <a:solidFill>
                  <a:srgbClr val="FFFFFF"/>
                </a:solidFill>
                <a:latin typeface="Courier New"/>
              </a:rPr>
              <a:t>document.querySelector('.card')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null</a:t>
            </a:r>
          </a:p>
        </p:txBody>
      </p:sp>
      <p:sp>
        <p:nvSpPr>
          <p:cNvPr id="17" name="Oval 16"/>
          <p:cNvSpPr/>
          <p:nvPr/>
        </p:nvSpPr>
        <p:spPr>
          <a:xfrm>
            <a:off x="416052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undefined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[]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Alterar elementos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Texto, classes, atributos e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C9D3C0"/>
                </a:solidFill>
                <a:latin typeface="Courier New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Alterar o que já existe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3075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textContent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163677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troca o texto (seguro)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13741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13741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11912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classList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448306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add, remove, toggle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948939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2948939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attr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2930651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setAttribute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259835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src, href, aria-*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760470"/>
            <a:ext cx="100584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60470"/>
            <a:ext cx="10058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374218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dataset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071365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dados guardados no elemento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57800" y="2103120"/>
            <a:ext cx="3429000" cy="1691639"/>
          </a:xfrm>
          <a:prstGeom prst="roundRect">
            <a:avLst>
              <a:gd name="adj" fmla="val 3243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2249424"/>
            <a:ext cx="3108960" cy="139903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 = document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.querySelector('#titulo')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t.textContent = 'Cardápio'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t.classList.add('destaque')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t.dataset.id = '42'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&lt;h1 data-id="42"&gt;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Estilo: prefira classes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el.style.color = 'red'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el.style.fontWeight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'bold'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el.style.border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'1px solid red'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Estilo espalhado no JS, difícil de manter.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9204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.destaque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color: crimson;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font-weight: bold;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el.classList.add('destaque')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59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7C2BD0"/>
                </a:solidFill>
                <a:latin typeface="Calibri"/>
              </a:rPr>
              <a:t>CSS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cuida da aparência; o JS só liga e desliga.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atenção!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innerHTML com dado de fora: XSS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432560"/>
          </a:xfrm>
          <a:prstGeom prst="roundRect">
            <a:avLst>
              <a:gd name="adj" fmla="val 3829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nome = campo.value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saudacao.innerHTML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`Olá, ${nome}!`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nome = &lt;img src=x</a:t>
            </a:r>
          </a:p>
          <a:p>
            <a:r>
              <a:rPr sz="1400" b="1">
                <a:solidFill>
                  <a:srgbClr val="C9D3C0"/>
                </a:solidFill>
                <a:latin typeface="Courier New"/>
              </a:rPr>
              <a:t>//   onerror="alert(1)"&gt;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64279"/>
            <a:ext cx="3520439" cy="6248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 navegador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executa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o que o usuário digitou.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219200"/>
          </a:xfrm>
          <a:prstGeom prst="roundRect">
            <a:avLst>
              <a:gd name="adj" fmla="val 449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9265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nome = campo.value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saudacao.textContent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`Olá, ${nome}!`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vira só texto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37759" y="3550919"/>
            <a:ext cx="3520439" cy="83819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textContent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nunca interpreta HTML.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Comentário que vira ataque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loja.com/avaliacoes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178308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alibri"/>
              </a:rPr>
              <a:t>Avaliações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194560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Bia: Adorei o açaí!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523744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2B2B2B"/>
                </a:solidFill>
                <a:latin typeface="Courier New"/>
              </a:rPr>
              <a:t>Caio: &lt;img src=x onerror=...&gt;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816351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com innerHTML, o script roda para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090671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todo mundo que abrir a página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1463039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XSS está entre as falhas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mais exploradas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da web.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Roubo de sessão, golpe e página falsa.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621024"/>
            <a:ext cx="3703320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99CB38"/>
                </a:solidFill>
                <a:latin typeface="Courier New"/>
              </a:rPr>
              <a:t>// regra prática: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innerHTML só com texto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que VOCÊ escreveu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é seguro para exibir o nome digitado pelo usuário?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innerHTML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textContent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outerHTML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insertAdjacentHTML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055864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Qual é seguro para exibir o nome digitado pelo usuário?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innerHTML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ourier New"/>
              </a:rPr>
              <a:t>textContent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outerHTML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2B2B2B"/>
                </a:solidFill>
                <a:latin typeface="Courier New"/>
              </a:rPr>
              <a:t>insertAdjacentHTML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Criar e remover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Elementos novos, montados peça por peça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C9D3C0"/>
                </a:solidFill>
                <a:latin typeface="Courier New"/>
              </a:rPr>
              <a:t>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Criar um elemento em 4 passos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Criar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elemento novo, solto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1183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5717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7175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175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Preencher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7175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texto e classes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26380" y="1655064"/>
            <a:ext cx="140131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6863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63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630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Inserir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630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no lugar certo da árvore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0085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0085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00850" y="2084832"/>
            <a:ext cx="188595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Remover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00850" y="2423160"/>
            <a:ext cx="188595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quando não serve mais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139440"/>
            <a:ext cx="8229600" cy="1432560"/>
          </a:xfrm>
          <a:prstGeom prst="roundRect">
            <a:avLst>
              <a:gd name="adj" fmla="val 382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3285744"/>
            <a:ext cx="7909560" cy="11399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li = document.createElement('li')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1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li.textContent = 'Pastel'    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li.classList.add('item')     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2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lista.append(li)             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3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li.remove()                                 </a:t>
            </a:r>
            <a:r>
              <a:rPr sz="1400" b="1">
                <a:solidFill>
                  <a:srgbClr val="99CB38"/>
                </a:solidFill>
                <a:latin typeface="Courier New"/>
              </a:rPr>
              <a:t>// 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Onde inserir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85800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append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no fim do pai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13258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937759" y="16116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6116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ini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15750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prepend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19225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no começo do pai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85800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&lt;&gt;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before</a:t>
            </a:r>
            <a:r>
              <a:rPr sz="2000" b="1" i="0">
                <a:solidFill>
                  <a:srgbClr val="2B2B2B"/>
                </a:solidFill>
                <a:latin typeface="Calibri"/>
              </a:rPr>
              <a:t> / </a:t>
            </a:r>
            <a:r>
              <a:rPr sz="2000" b="1" i="0">
                <a:solidFill>
                  <a:srgbClr val="2B2B2B"/>
                </a:solidFill>
                <a:latin typeface="Courier New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ao lado de um elemento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2811780"/>
            <a:ext cx="3977639" cy="1211580"/>
          </a:xfrm>
          <a:prstGeom prst="roundRect">
            <a:avLst>
              <a:gd name="adj" fmla="val 4528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937759" y="3097530"/>
            <a:ext cx="731520" cy="640080"/>
          </a:xfrm>
          <a:prstGeom prst="roundRect">
            <a:avLst>
              <a:gd name="adj" fmla="val 8571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097530"/>
            <a:ext cx="73152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79" y="3060954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remove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79" y="3408426"/>
            <a:ext cx="26517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tira da página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114800"/>
            <a:ext cx="786384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000" b="1" i="0">
                <a:solidFill>
                  <a:srgbClr val="2B2B2B"/>
                </a:solidFill>
                <a:latin typeface="Courier New"/>
              </a:rPr>
              <a:t>replaceChildren()</a:t>
            </a:r>
            <a:r>
              <a:rPr sz="2000" b="1" i="0">
                <a:solidFill>
                  <a:srgbClr val="2B2B2B"/>
                </a:solidFill>
                <a:latin typeface="Calibri"/>
              </a:rPr>
              <a:t> limpa a lista inteira de uma vez.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Onde o Suco aparece na página?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804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ul = document.querySelector('ul')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li = document.createElement('li')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li.textContent = 'Suco'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fim da lista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começo da lista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Em lugar nenhum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lugar da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ul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0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400" b="1" i="0">
                <a:solidFill>
                  <a:srgbClr val="2B2B2B"/>
                </a:solidFill>
                <a:latin typeface="Calibri"/>
              </a:rPr>
              <a:t>Onde o Suco aparece na página?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1371600"/>
            <a:ext cx="6400800" cy="1097280"/>
          </a:xfrm>
          <a:prstGeom prst="roundRect">
            <a:avLst>
              <a:gd name="adj" fmla="val 5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1517904"/>
            <a:ext cx="6080759" cy="80467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r>
              <a:rPr sz="1600" b="1">
                <a:solidFill>
                  <a:srgbClr val="FFFFFF"/>
                </a:solidFill>
                <a:latin typeface="Courier New"/>
              </a:rPr>
              <a:t>const ul = document.querySelector('ul')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const li = document.createElement('li')</a:t>
            </a:r>
          </a:p>
          <a:p>
            <a:r>
              <a:rPr sz="1600" b="1">
                <a:solidFill>
                  <a:srgbClr val="FFFFFF"/>
                </a:solidFill>
                <a:latin typeface="Courier New"/>
              </a:rPr>
              <a:t>li.textContent = 'Suco'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fim da lista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começo da lista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Em lugar nenhum</a:t>
            </a:r>
          </a:p>
        </p:txBody>
      </p:sp>
      <p:sp>
        <p:nvSpPr>
          <p:cNvPr id="25" name="Oval 24"/>
          <p:cNvSpPr/>
          <p:nvPr/>
        </p:nvSpPr>
        <p:spPr>
          <a:xfrm>
            <a:off x="4160520" y="35204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No lugar da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ul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Listas a partir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A tela é o reflexo do array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2E3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C9D3C0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analogia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Dados primeiro, tela depois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código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965960"/>
            <a:ext cx="3291839" cy="23317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99CB38"/>
                </a:solidFill>
                <a:latin typeface="Calibri"/>
              </a:rPr>
              <a:t>Dados</a:t>
            </a:r>
            <a:r>
              <a:rPr sz="2000" b="0" i="0">
                <a:solidFill>
                  <a:srgbClr val="FFFFFF"/>
                </a:solidFill>
                <a:latin typeface="Calibri"/>
              </a:rPr>
              <a:t>: o array de objetos.</a:t>
            </a:r>
          </a:p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Tela: a lista desenhada a partir dele.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1783080"/>
            <a:ext cx="731520" cy="2697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5400" b="1" i="0">
                <a:solidFill>
                  <a:srgbClr val="63A537"/>
                </a:solidFill>
                <a:latin typeface="Calibri"/>
              </a:rPr>
              <a:t>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1325880"/>
            <a:ext cx="3749039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4E6730"/>
                </a:solidFill>
                <a:latin typeface="Calibri"/>
              </a:rPr>
              <a:t>No dia a dia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1783080"/>
            <a:ext cx="3749039" cy="2697480"/>
          </a:xfrm>
          <a:prstGeom prst="roundRect">
            <a:avLst>
              <a:gd name="adj" fmla="val 2033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66360" y="2011680"/>
            <a:ext cx="685800" cy="685800"/>
          </a:xfrm>
          <a:prstGeom prst="roundRect">
            <a:avLst>
              <a:gd name="adj" fmla="val 8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201168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00CC99"/>
                </a:solidFill>
                <a:latin typeface="Courier New"/>
              </a:rPr>
              <a:t>[=]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834639"/>
            <a:ext cx="3291839" cy="1508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E2B16"/>
                </a:solidFill>
                <a:latin typeface="Calibri"/>
              </a:rPr>
              <a:t>O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cardápio da cozinha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muda.</a:t>
            </a:r>
          </a:p>
          <a:p>
            <a:pPr algn="l"/>
            <a:r>
              <a:rPr sz="2000" b="0" i="0">
                <a:solidFill>
                  <a:srgbClr val="1E2B16"/>
                </a:solidFill>
                <a:latin typeface="Calibri"/>
              </a:rPr>
              <a:t>O quadro na parede é </a:t>
            </a:r>
            <a:r>
              <a:rPr sz="2000" b="1" i="0">
                <a:solidFill>
                  <a:srgbClr val="1E2B16"/>
                </a:solidFill>
                <a:latin typeface="Calibri"/>
              </a:rPr>
              <a:t>reescrito</a:t>
            </a:r>
            <a:r>
              <a:rPr sz="2000" b="0" i="0">
                <a:solidFill>
                  <a:srgbClr val="1E2B16"/>
                </a:solidFill>
                <a:latin typeface="Calibri"/>
              </a:rPr>
              <a:t> inteiro.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 função renderizar()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5760720" cy="3291840"/>
          </a:xfrm>
          <a:prstGeom prst="roundRect">
            <a:avLst>
              <a:gd name="adj" fmla="val 1666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26464"/>
            <a:ext cx="5440679" cy="299923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cardapio = [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{ nome: 'Açaí', preco: 18 },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{ nome: 'Coxinha', preco: 4.5 },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]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const lista = document.querySelector('ul')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function renderizar(itens)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lista.replaceChildren()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for (const item of itens)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const li = document.createElement('li')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li.textContent = `${item.nome}: R$ ${item.preco}`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lista.append(li)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renderizar(cardapio)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1463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6304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86600" y="1417320"/>
            <a:ext cx="16002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Os dados vivem </a:t>
            </a:r>
            <a:r>
              <a:rPr sz="1800" b="1" i="0">
                <a:solidFill>
                  <a:srgbClr val="7C2BD0"/>
                </a:solidFill>
                <a:latin typeface="Calibri"/>
              </a:rPr>
              <a:t>no array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4688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423160"/>
            <a:ext cx="16002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7C2BD0"/>
                </a:solidFill>
                <a:latin typeface="Calibri"/>
              </a:rPr>
              <a:t>Limpa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antes de redesenhar.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3474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429000"/>
            <a:ext cx="160020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2B2B2B"/>
                </a:solidFill>
                <a:latin typeface="Calibri"/>
              </a:rPr>
              <a:t>Um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li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por item, com </a:t>
            </a:r>
            <a:r>
              <a:rPr sz="1800" b="1" i="0">
                <a:solidFill>
                  <a:srgbClr val="2B2B2B"/>
                </a:solidFill>
                <a:latin typeface="Courier New"/>
              </a:rPr>
              <a:t>textContent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C8191E"/>
                </a:solidFill>
                <a:latin typeface="Courier New"/>
              </a:rPr>
              <a:t>&gt; erro_comum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Renderizar do jeito certo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5800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77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ourier New"/>
              </a:rPr>
              <a:t>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2B2B2B"/>
                </a:solidFill>
                <a:latin typeface="Calibri"/>
              </a:rPr>
              <a:t>Evite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48839"/>
            <a:ext cx="3611879" cy="1356360"/>
          </a:xfrm>
          <a:prstGeom prst="roundRect">
            <a:avLst>
              <a:gd name="adj" fmla="val 4044"/>
            </a:avLst>
          </a:prstGeom>
          <a:solidFill>
            <a:srgbClr val="4A54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2295144"/>
            <a:ext cx="3291839" cy="106375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lista.innerHTML = ''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for (const item of itens)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lista.innerHTML +=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`&lt;li&gt;${item.nome}&lt;/li&gt;`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688080"/>
            <a:ext cx="3520439" cy="70103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ourier New"/>
              </a:rPr>
              <a:t>innerHTML +=</a:t>
            </a:r>
            <a:r>
              <a:rPr sz="1800" b="0" i="0">
                <a:solidFill>
                  <a:srgbClr val="2B2B2B"/>
                </a:solidFill>
                <a:latin typeface="Calibri"/>
              </a:rPr>
              <a:t> refaz tudo e abre XSS.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59" y="1280160"/>
            <a:ext cx="3977639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28575">
            <a:solidFill>
              <a:srgbClr val="63A5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37759" y="1481328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37759" y="1481328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000" b="1" i="0">
                <a:solidFill>
                  <a:srgbClr val="1E2B16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1481328"/>
            <a:ext cx="2971799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200" b="1" i="0">
                <a:solidFill>
                  <a:srgbClr val="4E6730"/>
                </a:solidFill>
                <a:latin typeface="Calibri"/>
              </a:rPr>
              <a:t>Prefira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2148839"/>
            <a:ext cx="3611879" cy="1950720"/>
          </a:xfrm>
          <a:prstGeom prst="roundRect">
            <a:avLst>
              <a:gd name="adj" fmla="val 2812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4920" y="2295144"/>
            <a:ext cx="3291839" cy="16581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300" b="1">
                <a:solidFill>
                  <a:srgbClr val="FFFFFF"/>
                </a:solidFill>
                <a:latin typeface="Courier New"/>
              </a:rPr>
              <a:t>const criarLi = (item) =&gt; {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const li =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  document.createElement('li')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li.textContent = item.nome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return li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}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lista.replaceChildren(</a:t>
            </a:r>
          </a:p>
          <a:p>
            <a:r>
              <a:rPr sz="1300" b="1">
                <a:solidFill>
                  <a:srgbClr val="FFFFFF"/>
                </a:solidFill>
                <a:latin typeface="Courier New"/>
              </a:rPr>
              <a:t>  ...itens.map(criarLi))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46888"/>
            <a:ext cx="1331366" cy="292608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7432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00785A"/>
                </a:solidFill>
                <a:latin typeface="Courier New"/>
              </a:rPr>
              <a:t>&gt; na_prática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Filtrar é redesenhar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280160"/>
            <a:ext cx="3931920" cy="324612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5875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298448"/>
            <a:ext cx="3895344" cy="329184"/>
          </a:xfrm>
          <a:prstGeom prst="rect">
            <a:avLst/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03504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49808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" y="1417319"/>
            <a:ext cx="91440" cy="91440"/>
          </a:xfrm>
          <a:prstGeom prst="ellipse">
            <a:avLst/>
          </a:prstGeom>
          <a:solidFill>
            <a:srgbClr val="C5D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1344168"/>
            <a:ext cx="32004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" b="1" i="0">
                <a:solidFill>
                  <a:srgbClr val="67766C"/>
                </a:solidFill>
                <a:latin typeface="Courier New"/>
              </a:rPr>
              <a:t>lanchonete.com/cardapio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783080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783080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500" b="1" i="0">
                <a:solidFill>
                  <a:srgbClr val="1E2B16"/>
                </a:solidFill>
                <a:latin typeface="Calibri"/>
              </a:rPr>
              <a:t>Até R$ 10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258568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Coxinha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96896" y="2258568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R$ 4,50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606039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Pastel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96896" y="2606039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R$ 8,00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953511"/>
            <a:ext cx="225856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Suco de caju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96896" y="2953511"/>
            <a:ext cx="1563624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600" b="1" i="0">
                <a:solidFill>
                  <a:srgbClr val="2B2B2B"/>
                </a:solidFill>
                <a:latin typeface="Calibri"/>
              </a:rPr>
              <a:t>R$ 6,00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300983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67766C"/>
                </a:solidFill>
                <a:latin typeface="Calibri"/>
              </a:rPr>
              <a:t>3 de 5 itens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1280160"/>
            <a:ext cx="4023360" cy="1920240"/>
          </a:xfrm>
          <a:prstGeom prst="roundRect">
            <a:avLst>
              <a:gd name="adj" fmla="val 2857"/>
            </a:avLst>
          </a:prstGeom>
          <a:solidFill>
            <a:srgbClr val="00C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92040" y="1463039"/>
            <a:ext cx="3566160" cy="1554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spcAft>
                <a:spcPts val="800"/>
              </a:spcAft>
            </a:pPr>
            <a:r>
              <a:rPr sz="1900" b="0" i="0">
                <a:solidFill>
                  <a:srgbClr val="1E2B16"/>
                </a:solidFill>
                <a:latin typeface="Calibri"/>
              </a:rPr>
              <a:t>Filtrar = mudar os </a:t>
            </a:r>
            <a:r>
              <a:rPr sz="1900" b="1" i="0">
                <a:solidFill>
                  <a:srgbClr val="1E2B16"/>
                </a:solidFill>
                <a:latin typeface="Calibri"/>
              </a:rPr>
              <a:t>dados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e chamar </a:t>
            </a:r>
            <a:r>
              <a:rPr sz="1900" b="1" i="0">
                <a:solidFill>
                  <a:srgbClr val="1E2B16"/>
                </a:solidFill>
                <a:latin typeface="Courier New"/>
              </a:rPr>
              <a:t>renderizar</a:t>
            </a:r>
            <a:r>
              <a:rPr sz="1900" b="0" i="0">
                <a:solidFill>
                  <a:srgbClr val="1E2B16"/>
                </a:solidFill>
                <a:latin typeface="Calibri"/>
              </a:rPr>
              <a:t> de novo.</a:t>
            </a:r>
          </a:p>
          <a:p>
            <a:pPr algn="l"/>
            <a:r>
              <a:rPr sz="1900" b="0" i="0">
                <a:solidFill>
                  <a:srgbClr val="1E2B16"/>
                </a:solidFill>
                <a:latin typeface="Calibri"/>
              </a:rPr>
              <a:t>O clique no botão vem em 04/11.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3474720"/>
            <a:ext cx="4023360" cy="1051560"/>
          </a:xfrm>
          <a:prstGeom prst="roundRect">
            <a:avLst>
              <a:gd name="adj" fmla="val 5217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3621024"/>
            <a:ext cx="3703320" cy="758951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baratos = cardapio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.filter(i =&gt; i.preco &lt;= 10)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renderizar(baratos)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481328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checkpoint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Se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renderizar</a:t>
            </a:r>
            <a:r>
              <a:rPr sz="2800" b="1" i="0">
                <a:solidFill>
                  <a:srgbClr val="2B2B2B"/>
                </a:solidFill>
                <a:latin typeface="Calibri"/>
              </a:rPr>
              <a:t> não limpasse a lista, o que aconteceria ao chamá-la 2 vezes?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Itens duplicados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 muda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 lista some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03336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577072" y="4809744"/>
            <a:ext cx="109728" cy="109728"/>
          </a:xfrm>
          <a:prstGeom prst="rect">
            <a:avLst/>
          </a:prstGeom>
          <a:solidFill>
            <a:srgbClr val="EEF4E4"/>
          </a:solidFill>
          <a:ln w="6350">
            <a:solidFill>
              <a:srgbClr val="C5D3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11480"/>
            <a:ext cx="128016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resposta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868680"/>
            <a:ext cx="8229600" cy="1463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2800" b="1" i="0">
                <a:solidFill>
                  <a:srgbClr val="2B2B2B"/>
                </a:solidFill>
                <a:latin typeface="Calibri"/>
              </a:rPr>
              <a:t>Se </a:t>
            </a:r>
            <a:r>
              <a:rPr sz="2800" b="1" i="0">
                <a:solidFill>
                  <a:srgbClr val="2B2B2B"/>
                </a:solidFill>
                <a:latin typeface="Courier New"/>
              </a:rPr>
              <a:t>renderizar</a:t>
            </a:r>
            <a:r>
              <a:rPr sz="2800" b="1" i="0">
                <a:solidFill>
                  <a:srgbClr val="2B2B2B"/>
                </a:solidFill>
                <a:latin typeface="Calibri"/>
              </a:rPr>
              <a:t> não limpasse a lista, o que aconteceria ao chamá-la 2 vezes?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99CB38"/>
                </a:solidFill>
                <a:latin typeface="Courier New"/>
              </a:rPr>
              <a:t>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1" i="0">
                <a:solidFill>
                  <a:srgbClr val="1E2B16"/>
                </a:solidFill>
                <a:latin typeface="Calibri"/>
              </a:rPr>
              <a:t>Itens duplicados</a:t>
            </a:r>
          </a:p>
        </p:txBody>
      </p:sp>
      <p:sp>
        <p:nvSpPr>
          <p:cNvPr id="15" name="Oval 14"/>
          <p:cNvSpPr/>
          <p:nvPr/>
        </p:nvSpPr>
        <p:spPr>
          <a:xfrm>
            <a:off x="4160520" y="2606040"/>
            <a:ext cx="201168" cy="20116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709159" y="26974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864607" y="28346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64607" y="28346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399" y="26974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Um erro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2648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 muda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09159" y="3611880"/>
            <a:ext cx="3977639" cy="731520"/>
          </a:xfrm>
          <a:prstGeom prst="roundRect">
            <a:avLst>
              <a:gd name="adj" fmla="val 7500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864607" y="374904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64607" y="37490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399" y="3611880"/>
            <a:ext cx="3063239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 lista some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3657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1000" b="1" i="0">
                <a:solidFill>
                  <a:srgbClr val="99CB38"/>
                </a:solidFill>
                <a:latin typeface="Courier New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011680"/>
            <a:ext cx="8138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ourier New"/>
              </a:rPr>
              <a:t>Prática guiada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697480"/>
            <a:ext cx="81381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0" i="0">
                <a:solidFill>
                  <a:srgbClr val="C9D3C0"/>
                </a:solidFill>
                <a:latin typeface="Calibri"/>
              </a:rPr>
              <a:t>O cardápio da lanchonete, do JSON à tela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&lt;/&gt;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8308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8308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2316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2316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ourier New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6324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Courier New"/>
              </a:rPr>
              <a:t>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703320" y="3977639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3977639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500" b="1" i="0">
                <a:solidFill>
                  <a:srgbClr val="1E2B16"/>
                </a:solidFill>
                <a:latin typeface="Courier New"/>
              </a:rPr>
              <a:t>&gt;_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O roteiro da prática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9728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5720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HTML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ourier New"/>
              </a:rPr>
              <a:t>ul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vazia e script com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defer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8892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14884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4884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Dados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JSON do cardápio com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parse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8056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84048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a função </a:t>
            </a:r>
            <a:r>
              <a:rPr sz="1600" b="1" i="0">
                <a:solidFill>
                  <a:srgbClr val="2B2B2B"/>
                </a:solidFill>
                <a:latin typeface="Courier New"/>
              </a:rPr>
              <a:t>renderizar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172200" y="1655064"/>
            <a:ext cx="978408" cy="0"/>
          </a:xfrm>
          <a:prstGeom prst="line">
            <a:avLst/>
          </a:prstGeom>
          <a:ln w="25400">
            <a:solidFill>
              <a:srgbClr val="63A53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53212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53212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3212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Total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 i="0">
                <a:solidFill>
                  <a:srgbClr val="2B2B2B"/>
                </a:solidFill>
                <a:latin typeface="Courier New"/>
              </a:rPr>
              <a:t>reduce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no rodapé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23760" y="137160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0" y="137160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1E2B16"/>
                </a:solidFill>
                <a:latin typeface="Courier New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084832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800" b="1" i="0">
                <a:solidFill>
                  <a:srgbClr val="2B2B2B"/>
                </a:solidFill>
                <a:latin typeface="Calibri"/>
              </a:rPr>
              <a:t>Estilo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423160"/>
            <a:ext cx="14630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Calibri"/>
              </a:rPr>
              <a:t>classes para destaque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Cardápio na tela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30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HTML com uma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ul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vazia 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defer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Converta o texto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JSON.parse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Renderize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createElement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Mostre o total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reduce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link do projeto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2545080"/>
          </a:xfrm>
          <a:prstGeom prst="roundRect">
            <a:avLst>
              <a:gd name="adj" fmla="val 2155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22524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texto = `[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{"nome":"Coxinha","preco":5},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{"nome":"Pastel","preco":8},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{"nome":"Açaí","preco":18}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]`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Coxinha: R$ 5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Pastel: R$ 8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Açaí: R$ 18</a:t>
            </a:r>
          </a:p>
          <a:p>
            <a:r>
              <a:rPr sz="1400" b="1">
                <a:solidFill>
                  <a:srgbClr val="99CB38"/>
                </a:solidFill>
                <a:latin typeface="Courier New"/>
              </a:rPr>
              <a:t>// Total: R$ 31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Destaque e esgotado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20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Acima de R$ 15: classe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.destaque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Acrescente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esgotado: true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a um item.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Esgotado: classe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.esgotado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Nada de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style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: só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classList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Bônus: contador de itens disponíveis.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478280"/>
          </a:xfrm>
          <a:prstGeom prst="roundRect">
            <a:avLst>
              <a:gd name="adj" fmla="val 3711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18567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.destaque { font-weight: bold; }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.esgotado {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text-decoration: line-through;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opacity: 0.5;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17957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desafio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Auditoria de XSS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301752"/>
            <a:ext cx="1463040" cy="384048"/>
          </a:xfrm>
          <a:prstGeom prst="roundRect">
            <a:avLst>
              <a:gd name="adj" fmla="val 14285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0" y="301752"/>
            <a:ext cx="14630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600" b="1" i="0">
                <a:solidFill>
                  <a:srgbClr val="1E2B16"/>
                </a:solidFill>
                <a:latin typeface="Calibri"/>
              </a:rPr>
              <a:t>⏱ 15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3716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13533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Encontre a falha de segurança.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0574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574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20391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Explique como um atacante a usaria.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7432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27249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Reescreva sem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innerHTML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4E6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3410712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900" b="0" i="0">
                <a:solidFill>
                  <a:srgbClr val="2B2B2B"/>
                </a:solidFill>
                <a:latin typeface="Calibri"/>
              </a:rPr>
              <a:t>Teste com </a:t>
            </a:r>
            <a:r>
              <a:rPr sz="1900" b="1" i="0">
                <a:solidFill>
                  <a:srgbClr val="2B2B2B"/>
                </a:solidFill>
                <a:latin typeface="Courier New"/>
              </a:rPr>
              <a:t>&lt;img src=x onerror=alert(1)&gt;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023360"/>
            <a:ext cx="402336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800" b="1" i="0">
                <a:solidFill>
                  <a:srgbClr val="4E6730"/>
                </a:solidFill>
                <a:latin typeface="Calibri"/>
              </a:rPr>
              <a:t>Entrega: os três desafios no Classroom.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754880" y="1280160"/>
            <a:ext cx="3931920" cy="1905000"/>
          </a:xfrm>
          <a:prstGeom prst="roundRect">
            <a:avLst>
              <a:gd name="adj" fmla="val 2879"/>
            </a:avLst>
          </a:prstGeom>
          <a:solidFill>
            <a:srgbClr val="1E2B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1426464"/>
            <a:ext cx="3611879" cy="161239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r>
              <a:rPr sz="1400" b="1">
                <a:solidFill>
                  <a:srgbClr val="FFFFFF"/>
                </a:solidFill>
                <a:latin typeface="Courier New"/>
              </a:rPr>
              <a:t>const termo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new URLSearchParams(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  location.search).get('busca')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document.querySelector('#res')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.innerHTML =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'&lt;h2&gt;Resultados para '</a:t>
            </a:r>
          </a:p>
          <a:p>
            <a:r>
              <a:rPr sz="1400" b="1">
                <a:solidFill>
                  <a:srgbClr val="FFFFFF"/>
                </a:solidFill>
                <a:latin typeface="Courier New"/>
              </a:rPr>
              <a:t>  + termo + '&lt;/h2&gt;'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736592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00" b="0" i="0">
                <a:solidFill>
                  <a:srgbClr val="67766C"/>
                </a:solidFill>
                <a:latin typeface="Calibri"/>
              </a:rPr>
              <a:t>IFPE Palmares · Desenvolvimento de Sistemas Web · JS Parte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708392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882127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055864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0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403336" y="4809744"/>
            <a:ext cx="109728" cy="109728"/>
          </a:xfrm>
          <a:prstGeom prst="rect">
            <a:avLst/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77072" y="4809744"/>
            <a:ext cx="109728" cy="109728"/>
          </a:xfrm>
          <a:prstGeom prst="ellipse">
            <a:avLst/>
          </a:prstGeom>
          <a:solidFill>
            <a:srgbClr val="C819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7432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4E6730"/>
                </a:solidFill>
                <a:latin typeface="Courier New"/>
              </a:rPr>
              <a:t>&gt; resumo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2064"/>
            <a:ext cx="82296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200" b="1" i="0">
                <a:solidFill>
                  <a:srgbClr val="4E6730"/>
                </a:solidFill>
                <a:latin typeface="Courier New"/>
              </a:rPr>
              <a:t>Leve para casa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600" b="1" i="0">
                <a:solidFill>
                  <a:srgbClr val="1E2B16"/>
                </a:solidFill>
                <a:latin typeface="Courier New"/>
              </a:rPr>
              <a:t>#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Selecione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com os seletores do CSS.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56616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txt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7C2BD0"/>
                </a:solidFill>
                <a:latin typeface="Calibri"/>
              </a:rPr>
              <a:t>textContent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e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classList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; innerHTML só com texto seu.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371600"/>
            <a:ext cx="2560320" cy="3017520"/>
          </a:xfrm>
          <a:prstGeom prst="roundRect">
            <a:avLst>
              <a:gd name="adj" fmla="val 2142"/>
            </a:avLst>
          </a:prstGeom>
          <a:solidFill>
            <a:srgbClr val="EEF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0" y="1645920"/>
            <a:ext cx="731520" cy="731520"/>
          </a:xfrm>
          <a:prstGeom prst="roundRect">
            <a:avLst>
              <a:gd name="adj" fmla="val 7500"/>
            </a:avLst>
          </a:prstGeom>
          <a:solidFill>
            <a:srgbClr val="63A5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6459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2400" b="1" i="0">
                <a:solidFill>
                  <a:srgbClr val="1E2B16"/>
                </a:solidFill>
                <a:latin typeface="Courier New"/>
              </a:rPr>
              <a:t>map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06040"/>
            <a:ext cx="2011680" cy="1645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100" b="1" i="0">
                <a:solidFill>
                  <a:srgbClr val="2B2B2B"/>
                </a:solidFill>
                <a:latin typeface="Calibri"/>
              </a:rPr>
              <a:t>A tela é o </a:t>
            </a:r>
            <a:r>
              <a:rPr sz="2100" b="1" i="0">
                <a:solidFill>
                  <a:srgbClr val="7C2BD0"/>
                </a:solidFill>
                <a:latin typeface="Calibri"/>
              </a:rPr>
              <a:t>reflexo</a:t>
            </a:r>
            <a:r>
              <a:rPr sz="2100" b="1" i="0">
                <a:solidFill>
                  <a:srgbClr val="2B2B2B"/>
                </a:solidFill>
                <a:latin typeface="Calibri"/>
              </a:rPr>
              <a:t> do array: renderize.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B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5040" y="0"/>
            <a:ext cx="3108960" cy="514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fpe-logomar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95913"/>
            <a:ext cx="2377440" cy="95167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731520"/>
            <a:ext cx="1682496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1" i="0">
                <a:solidFill>
                  <a:srgbClr val="99CB38"/>
                </a:solidFill>
                <a:latin typeface="Courier New"/>
              </a:rPr>
              <a:t>&gt; próxima_aula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ourier New"/>
              </a:rPr>
              <a:t>Eventos e formulários acessíveis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000" b="1" i="0">
                <a:solidFill>
                  <a:srgbClr val="99CB38"/>
                </a:solidFill>
                <a:latin typeface="Calibri"/>
              </a:rPr>
              <a:t>04/11 · atividade prática guiada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C9D3C0"/>
                </a:solidFill>
                <a:latin typeface="Calibri"/>
              </a:rPr>
              <a:t>Revise: formulários e ARIA (módulo 04)</a:t>
            </a:r>
          </a:p>
          <a:p>
            <a:pPr algn="l"/>
            <a:r>
              <a:rPr sz="1500" b="0" i="0">
                <a:solidFill>
                  <a:srgbClr val="C9D3C0"/>
                </a:solidFill>
                <a:latin typeface="Calibri"/>
              </a:rPr>
              <a:t>Termine os desafios no Classroom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77639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 i="0">
                <a:solidFill>
                  <a:srgbClr val="C9D3C0"/>
                </a:solidFill>
                <a:latin typeface="Calibri"/>
              </a:rPr>
              <a:t>Prof. Thiago Araújo · IFPE Campus Palmares · ADS 3º período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