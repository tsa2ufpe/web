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78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Araujo" userId="c1f1993b7930f888" providerId="LiveId" clId="{FA7E271A-FC95-4D77-AF09-2F324526F2F6}"/>
    <pc:docChg chg="modSld">
      <pc:chgData name="Thiago Araujo" userId="c1f1993b7930f888" providerId="LiveId" clId="{FA7E271A-FC95-4D77-AF09-2F324526F2F6}" dt="2026-10-21T23:56:44.278" v="4" actId="20577"/>
      <pc:docMkLst>
        <pc:docMk/>
      </pc:docMkLst>
      <pc:sldChg chg="modSp mod">
        <pc:chgData name="Thiago Araujo" userId="c1f1993b7930f888" providerId="LiveId" clId="{FA7E271A-FC95-4D77-AF09-2F324526F2F6}" dt="2026-10-21T23:56:44.278" v="4" actId="20577"/>
        <pc:sldMkLst>
          <pc:docMk/>
          <pc:sldMk cId="0" sldId="300"/>
        </pc:sldMkLst>
        <pc:spChg chg="mod">
          <ac:chgData name="Thiago Araujo" userId="c1f1993b7930f888" providerId="LiveId" clId="{FA7E271A-FC95-4D77-AF09-2F324526F2F6}" dt="2026-10-21T23:56:44.278" v="4" actId="20577"/>
          <ac:spMkLst>
            <pc:docMk/>
            <pc:sldMk cId="0" sldId="30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98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Última aula do bloco de JavaScript no navegador. Hoje juntamos três assuntos que estavam previstos para três aulas: dados (objetos, JSON e localStorage), a página (DOM) e a interação (eventos e formulários).</a:t>
            </a:r>
          </a:p>
          <a:p>
            <a:r>
              <a:t>O ritmo é de revisão ativa: pouco slide por assunto, muito "preveja antes de rodar" e live coding curto. A última hora é o lançamento do projeto que vale nota, e a turma já sai da aula com a primeira etapa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Cinco blocos curtos de conteúdo e um bloco de projeto.</a:t>
            </a:r>
          </a:p>
          <a:p>
            <a:r>
              <a:t>Cada bloco termina com um checkpoint; se a turma errar muito um deles, vale gastar mais cinco minutos ali, porque o projeto usa todos.</a:t>
            </a:r>
          </a:p>
          <a:p>
            <a:r>
              <a:t>O fio condutor é a lanchonete: o cardápio que já apareceu em arrays (14/10) vira objeto, vira JSON, vira lista na tela, ganha botões e termina num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a turma montar a cadeia: o servidor guarda os dados; eles viajam como texto (JSON); o JavaScript transforma em objetos; uma função desenha a lista na página (DOM); o clique no botão é um evento que atualiza o carrinho.</a:t>
            </a:r>
          </a:p>
          <a:p>
            <a:r>
              <a:t>É exatamente a ordem dos blocos de hoje, e é o projeto que vocês vão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1: dados. Objetos já apareceram nos desafios de arrays (o cardápio da lanchonete); agora com nome e sobrenome.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Objeto literal: chaves, pares chave: valor separados por vírgula. Acesso com ponto: item.nome, item.preco.</a:t>
            </a:r>
          </a:p>
          <a:p>
            <a:r>
              <a:t>Ler uma chave que não existe dá undefined, sem erro (item.estoque). Para quem quiser ir além: o ?. (optional chaining) evita erro ao descer mais um nível num campo que pode faltar.</a:t>
            </a:r>
          </a:p>
          <a:p>
            <a:r>
              <a:t>Lembrar a pegadinha de referência da aula de arrays: const copia = item não copia; { ...item } copia o primeiro nível; structuredClone copia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Classe é o molde para criar muitos objetos com a mesma forma e o mesmo comportamento. constructor roda a cada new e preenche o objeto via this; métodos são funções que o objeto sabe executar.</a:t>
            </a:r>
          </a:p>
          <a:p>
            <a:r>
              <a:t>c.subtotal(3) devolve 15; sem argumento, qtd vale 1 (o parâmetro padrão da aula de funções).</a:t>
            </a:r>
          </a:p>
          <a:p>
            <a:r>
              <a:t>Erro clássico: esquecer o new (Item('Coxinha', 5)) dá TypeError.</a:t>
            </a:r>
          </a:p>
          <a:p>
            <a:r>
              <a:t>No projeto, usar uma classe Carrinho é bônus, não obrigação.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coding: criar o objeto cliente no console e montar a saudação com ${cliente}. Pedir que a turma preveja o resultado antes do Enter.</a:t>
            </a:r>
          </a:p>
          <a:p>
            <a:r>
              <a:t>Por que sai [object Object]: um template literal (e também o + com texto) precisa transformar o valor em texto. Número e boolean viram texto do jeito esperado ('5', 'true'), mas um objeto tem vários campos, e o JavaScript não adivinha qual mostrar. A conversão padrão de qualquer objeto devolve o rótulo genérico "[object Object]", que quer dizer "aqui tem um objeto". Os dados se perdem.</a:t>
            </a:r>
          </a:p>
          <a:p>
            <a:r>
              <a:t>É um bug real e comum: e-mails e notificações que chegam com "Olá, [object Object]" porque alguém passou o objeto inteiro no lugar do nome.</a:t>
            </a:r>
          </a:p>
          <a:p>
            <a:r>
              <a:t>Duas saídas: escolher o campo que se quer mostrar (cliente.nome) ou, quando o objeto inteiro precisa virar texto para ser guardado ou enviado, usar JSON.stringify (próximo slide).</a:t>
            </a:r>
          </a:p>
          <a:p>
            <a:r>
              <a:t>O localStorage faz a mesma conversão automática: por isso, salvar o carrinho sem JSON dá [object Object] (dois slides adiante).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dados não viajam pela rede nem ficam guardados como objetos, só como texto. JSON é esse texto: chaves e strings com aspas duplas, sem funções, sem undefined, sem comentários.</a:t>
            </a:r>
          </a:p>
          <a:p>
            <a:r>
              <a:t>JSON.stringify: objeto para texto (arrumar a mala). JSON.parse: texto para objeto (desfazer a mala).</a:t>
            </a:r>
          </a:p>
          <a:p>
            <a:r>
              <a:t>JSON.parse lança SyntaxError com texto inválido; dado vindo de fora vai sempre dentro de try/catch.</a:t>
            </a:r>
          </a:p>
          <a:p>
            <a:r>
              <a:t>No projeto, o cardápio já vem como texto JSON no app.js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que é: localStorage é um armazenamento chave-valor que cada site tem no navegador. Ele sobrevive ao F5 e ao fechar o navegador; é por isso que o carrinho do projeto volta quando o cliente reabre a página.</a:t>
            </a:r>
          </a:p>
          <a:p>
            <a:r>
              <a:t>Por que o JSON: o localStorage só sabe guardar texto. Se receber um array ou objeto, ele mesmo converte para texto, do jeito do slide "Objeto dentro de texto", e o que fica gravado é '[object Object]'. Os itens do carrinho se perdem.</a:t>
            </a:r>
          </a:p>
          <a:p>
            <a:r>
              <a:t>A solução é converter você mesmo, antes de salvar: JSON.stringify(carrinho) gera um texto que guarda todos os campos.</a:t>
            </a:r>
          </a:p>
          <a:p>
            <a:r>
              <a:t>Live coding: rodar os dois lados no console e mostrar o valor gravado em DevTools › Application › Local Storage.</a:t>
            </a:r>
          </a:p>
          <a:p>
            <a:r>
              <a:t>Nunca guarde senha, token ou dado pessoal sensível: qualquer script da página lê (LGPD, XSS).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getItem devolve o texto que foi gravado. JSON.parse desfaz o stringify e devolve o array de volta, com os objetos dentro.</a:t>
            </a:r>
          </a:p>
          <a:p>
            <a:r>
              <a:t>Na primeira visita não há nada salvo: getItem devolve null. JSON.parse(null) também dá null, e um carrinho null quebraria o código depois (null.length, null.map...). O ?? [] da primeira aula resolve: se veio null, o carrinho começa vazio.</a:t>
            </a:r>
          </a:p>
          <a:p>
            <a:r>
              <a:t>Se o texto salvo estiver corrompido (alguém editou na mão no DevTools), JSON.parse lança erro: no projeto, envolva essa leitura num try/catch, como no slide de JSON.</a:t>
            </a:r>
          </a:p>
          <a:p>
            <a:r>
              <a:t>Resumo para a turma: JSON na ida (stringify ao salvar), JSON na volta (parse ao ler). É o requisito "Salvar" da rubrica.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bloco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'string'. O 10 foi guardado como '10'. Para usar como número: Number(localStorage.getItem('n')). Com objetos,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2: a página. Retomar o módulo 01 (como o navegador renderiza).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DOM (Document Object Model): o navegador lê o HTML e monta na memória uma árvore de objetos. Cada tag vira um nó; document é a raiz.</a:t>
            </a:r>
          </a:p>
          <a:p>
            <a:r>
              <a:t>O JS não edita o arquivo HTML: ele altera essa árvore, e o navegador redesenha a tela na hora.</a:t>
            </a:r>
          </a:p>
          <a:p>
            <a:r>
              <a:t>Live coding de 1 minuto: abrir o site do IFPE, colar document.body.style.background = 'pink' no console e apertar F5 para mostrar que a mudança é só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 defer, o script roda antes de o body existir: querySelector devolve null e a linha seguinte quebra.</a:t>
            </a:r>
          </a:p>
          <a:p>
            <a:r>
              <a:t>Quando aparecer "Cannot read properties of null", a primeira pergunta é: o elemento existe quando o script roda?</a:t>
            </a:r>
          </a:p>
          <a:p>
            <a:r>
              <a:t>O index.html do projeto inicial já vem com defer.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querySelector aceita qualquer seletor CSS; querySelectorAll devolve todos (NodeList, que não tem map: use [...lista]).</a:t>
            </a:r>
          </a:p>
          <a:p>
            <a:r>
              <a:t>textContent escreve texto puro. classList liga e desliga classes do CSS (prefira a style). dataset lê e escreve atributos data-*: é como cada botão do cardápio vai saber qual item adicionar.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HTML: um &lt;input id="nome"&gt; e um &lt;p id="saudacao"&gt;. O código pega os dois e escreve a saudação com o que foi digitado.</a:t>
            </a:r>
          </a:p>
          <a:p>
            <a:r>
              <a:t>innerHTML interpreta a string como HTML. Com dado de fora (campo, URL, API, localStorage), um atacante injeta código: é o XSS, uma das falhas mais exploradas da web.</a:t>
            </a:r>
          </a:p>
          <a:p>
            <a:r>
              <a:t>Regra prática: innerHTML só com texto que você mesmo escreveu. Dado de fora: textContent ou createElement.</a:t>
            </a:r>
          </a:p>
          <a:p>
            <a:r>
              <a:t>No projeto, innerHTML com dado digitado pelo usuário desconta ponto. Está na rubrica.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bloco de 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textContent. Os outros três interpretam a string como HTML e abrem espaço para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3: o padrão central do projeto. Os dados mudam; uma função redesenha a tela a partir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createElement cria na memória; o elemento só aparece quando é inserido (append, prepend, before, after).</a:t>
            </a:r>
          </a:p>
          <a:p>
            <a:r>
              <a:t>replaceChildren() esvazia o elemento de uma vez: é a primeira linha de todo renderizar.</a:t>
            </a:r>
          </a:p>
          <a:p>
            <a:r>
              <a:t>Como o texto entra por textContent, não há risco de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função que o projeto inteiro usa. Ler de cima para baixo:</a:t>
            </a:r>
          </a:p>
          <a:p>
            <a:r>
              <a:t>1) Os dados vivem no array (no projeto, vêm do JSON.parse do texto do cardápio).</a:t>
            </a:r>
          </a:p>
          <a:p>
            <a:r>
              <a:t>2) renderizar começa limpando: sem isso, cada chamada duplicaria a lista.</a:t>
            </a:r>
          </a:p>
          <a:p>
            <a:r>
              <a:t>3) Um li por item, com textContent e um botão que guarda o id no dataset.</a:t>
            </a:r>
          </a:p>
          <a:p>
            <a:r>
              <a:t>Como recebe o array por parâmetro, serve para a lista inteira e para a lista filtrada pela busca: renderizar(cardapio) ou renderizar(baratos), a lista filtrada.</a:t>
            </a:r>
          </a:p>
          <a:p>
            <a:r>
              <a:t>Live coding: rodar, depois cardapio.push({ id: 3, nome: 'Pastel', preco: 8 }) no console e renderizar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filtro não esconde elementos da tela: ele monta outra lista só com os itens que passam no if e desenha de novo com a função renderizar do slide anterior. O cardápio original não muda.</a:t>
            </a:r>
          </a:p>
          <a:p>
            <a:r>
              <a:t>Ler em voz alta: começo com uma lista vazia; para cada item do cardápio, se o preço for até 6, coloco na lista; no fim, desenho a lista nova. Aqui, baratos fica com Coxinha e Suco.</a:t>
            </a:r>
          </a:p>
          <a:p>
            <a:r>
              <a:t>É o padrão acumulador da aula de laços, agora com push.</a:t>
            </a:r>
          </a:p>
          <a:p>
            <a:r>
              <a:t>Para quem já domina a aula de arrays: o mesmo resultado sai em uma linha com cardapio.filter(i =&gt; i.preco &lt;= 6). As duas formas valem no projeto.</a:t>
            </a:r>
          </a:p>
          <a:p>
            <a:r>
              <a:t>A busca do projeto é isso, disparada a cada tecla (bloco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Pegadinha: leia com calma.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C. Em lugar nenhum. O li foi criado e preenchido, mas nunca inserido: faltou ul.append(li).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4: interação. É o que transforma a lista do bloco 3 num cardápio que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addEventListener recebe o nome do evento e uma função (o callback de 07/10), que roda a cada vez que o evento acontece.</a:t>
            </a:r>
          </a:p>
          <a:p>
            <a:r>
              <a:t>Eventos que o projeto usa: click (botões), input (a cada tecla na busca), submit (formulário de pedido).</a:t>
            </a:r>
          </a:p>
          <a:p>
            <a:r>
              <a:t>Erro comum: addEventListener('click', curtir()) com parênteses executa a função na hora. Passe a função: curtir ou () =&gt; curtir().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HTML: &lt;input id="busca"&gt;. cardapio e renderizar são os do bloco 3.</a:t>
            </a:r>
          </a:p>
          <a:p>
            <a:r>
              <a:t>É o requisito de busca do projeto, quase pronto. Ler junto com a turma:</a:t>
            </a:r>
          </a:p>
          <a:p>
            <a:r>
              <a:t>buscar é uma função com nome, igual às da aula de funções. Ela pega o texto digitado, monta a lista dos itens cujo nome contém esse texto (includes) e chama renderizar com ela.</a:t>
            </a:r>
          </a:p>
          <a:p>
            <a:r>
              <a:t>A última linha liga a função ao evento input, que dispara a cada tecla. Repare: buscar sem parênteses, porque quem chama é o navegador.</a:t>
            </a:r>
          </a:p>
          <a:p>
            <a:r>
              <a:t>includes diferencia maiúsculas: "cus" não acha "Cuscuz". Resolver com toLowerCase dos dois lados é o mínimo; ignorar acentos é bônus.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adicionar recebe o id que estava guardado no botão (dataset) e procura no cardápio o item com aquele id. Achou, coloca no carrinho com push.</a:t>
            </a:r>
          </a:p>
          <a:p>
            <a:r>
              <a:t>Pegadinha que vai aparecer no projeto: dataset.id é sempre texto. Sem Number, '1' === 1 dá false e nenhum item é encontrado.</a:t>
            </a:r>
          </a:p>
          <a:p>
            <a:r>
              <a:t>carrinho é let porque, no projeto, ele será trocado por outra lista ao remover itens.</a:t>
            </a:r>
          </a:p>
          <a:p>
            <a:r>
              <a:t>Para quem já domina a aula de arrays: cardapio.find(i =&gt; i.id === Number(id)) acha o item em uma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HTML: &lt;p id="total" role="status"&gt;. mostrarTotal percorre o carrinho, soma os preços e escreve o resultado na tela.</a:t>
            </a:r>
          </a:p>
          <a:p>
            <a:r>
              <a:t>É o mesmo padrão do carrinho da aula de laços (let total = 0 e +=), agora escrevendo na página.</a:t>
            </a:r>
          </a:p>
          <a:p>
            <a:r>
              <a:t>Para quem já domina a aula de arrays: carrinho.reduce((s, i) =&gt; s + i.preco, 0) faz a soma em uma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adicionar é a função de dois slides atrás.</a:t>
            </a:r>
          </a:p>
          <a:p>
            <a:r>
              <a:t>O renderizar recria os botões a cada busca; listeners postos nos botões antigos somem com eles.</a:t>
            </a:r>
          </a:p>
          <a:p>
            <a:r>
              <a:t>Delegação: um único listener na ul, que existe desde o início. O clique "sobe" do botão até a ul (bubbling), e e.target diz em qual elemento ele começou.</a:t>
            </a:r>
          </a:p>
          <a:p>
            <a:r>
              <a:t>Como só os botões têm data-id, basta perguntar: o elemento clicado tem um id guardado? Se tem, foi num botão "Adicionar"; se não tem (clique no texto do item), não faz nada.</a:t>
            </a:r>
          </a:p>
          <a:p>
            <a:r>
              <a:t>Para quem quiser ir além: se o botão tiver um ícone ou outra tag dentro, e.target pode ser o ícone; aí se usa e.target.closest('button').</a:t>
            </a:r>
          </a:p>
          <a:p>
            <a:r>
              <a:t>É o requisito do carrinho: adicionar e remover com delegação.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Erro silencioso clássico.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Com parênteses, a função roda imediatamente e o que vai para o addEventListener é o retorno dela (undefined). O clique não faz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5: o formulário de pedido do projeto. A turma conhece formulários e acessibilidade do HTML (módulos 02 e 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Enviar um formulário faz o navegador recarregar a página por padrão; tudo o que estava na memória do JS se perde.</a:t>
            </a:r>
          </a:p>
          <a:p>
            <a:r>
              <a:t>Ouça o submit do form (não o click do botão): ele também dispara com Enter, e a validação nativa (required, type="email", minlength) roda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passo: segura o envio (preventDefault), lê o texto de cada campo pelo .value, confere com if e, se faltar algo, avisa e para (return). Se estiver tudo certo, monta a mensagem do pedido com template literal.</a:t>
            </a:r>
          </a:p>
          <a:p>
            <a:r>
              <a:t>As cinco primeiras linhas pegam os elementos do HTML: o formulário, os dois campos, um parágrafo para o aviso e outro para a mensagem. inputNome é o campo (o elemento); nome é o texto que está dentro dele (.value).</a:t>
            </a:r>
          </a:p>
          <a:p>
            <a:r>
              <a:t>O HTML também valida: required, type e minlength; form.checkValidity() pergunta se está tudo certo.</a:t>
            </a:r>
          </a:p>
          <a:p>
            <a:r>
              <a:t>Para formulários grandes, existe um atalho que lê todos os campos de uma vez: Object.fromEntries(new FormData(form)). Fica como curiosidade.</a:t>
            </a:r>
          </a:p>
          <a:p>
            <a:r>
              <a:t>Lembrete de mercado: validar no navegador é conforto, não segurança. O servidor sempre valida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Quem enxerga vê o carrinho mudar; quem usa leitor de tela (NVDA, TalkBack) não recebe aviso nenhum, a menos que a mudança aconteça numa região viva.</a:t>
            </a:r>
          </a:p>
          <a:p>
            <a:r>
              <a:t>role="status" (aria-live polite) espera o leitor terminar o que está falando; role="alert" interrompe e serve para erros.</a:t>
            </a:r>
          </a:p>
          <a:p>
            <a:r>
              <a:t>Lei Brasileira de Inclusão (13.146/2015): site acessível não é opcional. No projeto, o total do carrinho e os avisos vão num role="status".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HTML de base: &lt;input id="zap" aria-describedby="zap-erro"&gt; e &lt;span id="zap-erro" role="alert"&gt;&lt;/span&gt;.</a:t>
            </a:r>
          </a:p>
          <a:p>
            <a:r>
              <a:t>Para cada campo inválido: aria-invalid="true" e a mensagem no span; válido: aria-invalid="false" e span vazio. No fim, foco no primeiro inválido.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Último checkpoint de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O envio padrão recarrega a página e o estado do JS se perde, sem erro nenhum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Última hora da aula. Lançamento do projeto avaliativo que fecha o bloco de JavaScript e início da etapa 1 em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projeto: a lanchonete do campus quer um cardápio digital. O cliente busca um item, adiciona ao carrinho, vê o total, fecha a página e volta sem perder o carrinho, e faz o pedido informando nome e WhatsApp. No fim, a página mostra a mensagem pronta do pedido (a da primeira aula).</a:t>
            </a:r>
          </a:p>
          <a:p>
            <a:r>
              <a:t>Duplas. Entrega até 04/11, 23h59 pelo Classroom. O projeto inicial (index.html, style.css e app.js com o cardápio em JSON) está no Classroom: o HTML e o CSS já vêm prontos, para o esforço ir todo para o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Rubrica de 10 pontos, alinhada com os blocos de hoje. Mostrar que cada linha corresponde a um slide da aula.</a:t>
            </a:r>
          </a:p>
          <a:p>
            <a:r>
              <a:t>Bônus (até +1, sem passar de 10): classe Carrinho com métodos; busca que ignora acentos; filtro por categoria; botão "Enviar no WhatsApp".</a:t>
            </a:r>
          </a:p>
          <a:p>
            <a:r>
              <a:t>Desconto: -1 se usar innerHTML com dado digitado pelo usuário (XSS).</a:t>
            </a:r>
          </a:p>
          <a:p>
            <a:r>
              <a:t>Critério geral de cada item: funciona, sem erro no console, e a dupla sabe explicar 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ordem importa: cada etapa usa a anterior. Sugestão de ritmo: etapa 1 hoje em sala; etapas 2 e 3 na primeira semana; 4 e 5 na segunda.</a:t>
            </a:r>
          </a:p>
          <a:p>
            <a:r>
              <a:t>Testar ao fim de cada etapa e não seguir com erro no console (F12 aberto o tempo todo, como combinamos na primeira aula).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Duplas: as mesmas da programação em par ou novas, mas os dois precisam entender tudo.</a:t>
            </a:r>
          </a:p>
          <a:p>
            <a:r>
              <a:t>Prazo 04/11, 23h59. Entrega: .zip com index.html, style.css e app.js, com os nomes da dupla no topo do app.js.</a:t>
            </a:r>
          </a:p>
          <a:p>
            <a:r>
              <a:t>Uso de IA: permitido para tirar dúvida e entender erro, como fariam com um colega ou a documentação. Código que a dupla não consegue explicar na defesa não conta ponto. O uso crítico de assistentes de IA é tema da aula do projeto integrador.</a:t>
            </a:r>
          </a:p>
          <a:p>
            <a:r>
              <a:t>Defesa: na aula seguinte à entrega, 3 minutos por dupla; eu aponto um trecho e pergunto o que ele faz e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 sala: a etapa 1 é a mais importante, porque todas as outras dependem dela. Circular pelas duplas.</a:t>
            </a:r>
          </a:p>
          <a:p>
            <a:r>
              <a:t>Erros esperados: esquecer o append (nada aparece), preço com muitas casas (usar toFixed(2)), crase trocada por aspas no template literal.</a:t>
            </a:r>
          </a:p>
          <a:p>
            <a:r>
              <a:t>Quem terminar cedo começa a busca (etapa 2), que é o slide "Busca a cada tecla" quase pronto.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bloco de JavaScript: da primeira variável (30/09) a uma aplicação com dados, tela, interação e acessibilidade.</a:t>
            </a:r>
          </a:p>
          <a:p>
            <a:r>
              <a:t>O projeto é a prova de que vocês juntam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Próxima aula: programação assíncrona com fetch, Promises e async/await, consumindo uma API pública. É a promessa da aula de JSON: o CEP de Palmares vindo do ViaCEP de verdade.</a:t>
            </a:r>
          </a:p>
          <a:p>
            <a:r>
              <a:t>Gancho com o projeto: hoje o cardápio vem de um texto JSON no app.js; com fetch, ele poderia vir de um servidor. Fica como evolução no projeto integrador.</a:t>
            </a:r>
          </a:p>
          <a:p>
            <a:r>
              <a:t>Projeto: entrega até 04/11, 23h59.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aula_21.10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4 · JS na página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21/10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Objetos e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&lt;/&gt;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Listas a partir de 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Eventos e delegação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Formulários acessíveis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Projeto valendo nota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Como o cardápio do iFood sai do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servidor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e vira botão na sua tela?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Objetos e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Representar, guardar e trocar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Objeto agrupa os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dados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uma mesma coisa, cada um com um nome.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Chave: valor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, com vírgula entre os pares.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94460"/>
            <a:ext cx="3931920" cy="2514600"/>
          </a:xfrm>
          <a:prstGeom prst="roundRect">
            <a:avLst>
              <a:gd name="adj" fmla="val 218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540764"/>
            <a:ext cx="3611879" cy="22219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item =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id: 1,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nome: 'Coxinha',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preco: 5,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categoria: 'salgado',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item.nome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'Coxinha'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item.preco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Classe é a forma, objeto é o bolo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13560"/>
            <a:ext cx="3749039" cy="2636520"/>
          </a:xfrm>
          <a:prstGeom prst="roundRect">
            <a:avLst>
              <a:gd name="adj" fmla="val 208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59864"/>
            <a:ext cx="3428999" cy="2343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class Item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constructor(nome, preco)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this.nome = nome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this.preco = preco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subtotal(qtd = 1)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return this.preco * qtd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c = new Item('Coxinha', 5)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c.subtotal(3) </a:t>
            </a:r>
            <a:r>
              <a:rPr sz="1300" b="1">
                <a:solidFill>
                  <a:srgbClr val="99CB38"/>
                </a:solidFill>
                <a:latin typeface="Courier New"/>
              </a:rPr>
              <a:t>//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A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classe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a forma de bolo.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Cada </a:t>
            </a:r>
            <a:r>
              <a:rPr sz="2000" b="1" i="0">
                <a:solidFill>
                  <a:srgbClr val="1E2B16"/>
                </a:solidFill>
                <a:latin typeface="Courier New"/>
              </a:rPr>
              <a:t>new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assa um bolo novo, com o seu sabor.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Objeto dentro de texto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645919"/>
          </a:xfrm>
          <a:prstGeom prst="roundRect">
            <a:avLst>
              <a:gd name="adj" fmla="val 3333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353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cliente =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nome: 'Ana',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zap: '81 99999-0000',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`Olá, ${cliente}!`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'Olá, [object Object]!'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3520439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JS não sabe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qual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campo mostrar.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`Olá, ${cliente.nome}!`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'Olá, Ana!'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JSON.stringify(cliente)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'{"nome":"Ana",...}'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Escolha o campo, ou use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JSON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74903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JSON é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texto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com cara de objeto: é assim que os dados viajam.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67766C"/>
                </a:solidFill>
                <a:latin typeface="Courier New"/>
              </a:rPr>
              <a:t>stringify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arruma a mala;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parse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desfaz. Texto quebrado?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try/catch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63040"/>
            <a:ext cx="4114800" cy="2377439"/>
          </a:xfrm>
          <a:prstGeom prst="roundRect">
            <a:avLst>
              <a:gd name="adj" fmla="val 230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609344"/>
            <a:ext cx="3794759" cy="20848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item = { nome: 'Coxinha'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texto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JSON.stringify(item)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'{"nome":"Coxinha"}'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volta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JSON.parse(texto)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{ nome: 'Coxinha'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Salvar no localStorage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356360"/>
          </a:xfrm>
          <a:prstGeom prst="roundRect">
            <a:avLst>
              <a:gd name="adj" fmla="val 4044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063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carrinho = [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'Coxinha', preco: 5 }]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localStorage.setItem(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'carrinho', carrinho)</a:t>
            </a:r>
          </a:p>
          <a:p>
            <a:r>
              <a:rPr sz="1300" b="1">
                <a:solidFill>
                  <a:srgbClr val="C9D3C0"/>
                </a:solidFill>
                <a:latin typeface="Courier New"/>
              </a:rPr>
              <a:t>// gravou '[object Object]'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88080"/>
            <a:ext cx="3520439" cy="701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Sem JSON, os itens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se perdem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158240"/>
          </a:xfrm>
          <a:prstGeom prst="roundRect">
            <a:avLst>
              <a:gd name="adj" fmla="val 47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8656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localStorage.setItem(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'carrinho',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JSON.stringify(carrinho))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'[{"nome":"Coxinha",...}]'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489960"/>
            <a:ext cx="3520439" cy="899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stringify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vira texto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antes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de salvar.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74903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Para ler, faça o caminho de volta: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texto → objeto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??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(aula 1) entra só quando não veio nada salvo.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76400"/>
            <a:ext cx="4114800" cy="1950720"/>
          </a:xfrm>
          <a:prstGeom prst="roundRect">
            <a:avLst>
              <a:gd name="adj" fmla="val 281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822703"/>
            <a:ext cx="3794759" cy="16581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salvo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localStorage.getItem('carrinho')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1ª visita: null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carrinho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JSON.parse(salvo) ?? []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null ?? [] → vazio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localStorage.setItem('n', 10)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typeof localStorage.getItem('n')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'string'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'object'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'undefined'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1517904"/>
            <a:ext cx="571499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localStorage.setItem('n', 10)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typeof localStorage.getItem('n')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'string'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'object'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'undefined'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página como uma árvore de objetos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HTML vira uma árvore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56616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472184"/>
            <a:ext cx="3246120" cy="20391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&lt;body&gt;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&lt;h1&gt;Cardápio&lt;/h1&gt;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&lt;ul id="lista"&gt;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&lt;li&gt;Coxinha&lt;/li&gt;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&lt;li&gt;Pastel&lt;/li&gt;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&lt;/ul&gt;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&lt;/body&gt;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1764792"/>
            <a:ext cx="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2450592"/>
            <a:ext cx="91440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450592"/>
            <a:ext cx="91440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20840" y="3136392"/>
            <a:ext cx="59436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3136392"/>
            <a:ext cx="59436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75020" y="13258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5020" y="13258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5020" y="20116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5020" y="20116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body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0620" y="26974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60620" y="26974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h1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9420" y="26974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9420" y="26974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E2B16"/>
                </a:solidFill>
                <a:latin typeface="Courier New"/>
              </a:rPr>
              <a:t>ul#lista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5059" y="33832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5059" y="33832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3780" y="33832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3780" y="3383280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li</a:t>
            </a:r>
          </a:p>
        </p:txBody>
      </p:sp>
      <p:sp>
        <p:nvSpPr>
          <p:cNvPr id="30" name="Oval 29"/>
          <p:cNvSpPr/>
          <p:nvPr/>
        </p:nvSpPr>
        <p:spPr>
          <a:xfrm>
            <a:off x="7731252" y="2624328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Cada tag vira um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objeto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que o JavaScript pode ler e mudar.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Onde colocar o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139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&lt;head&gt;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&lt;script src="app.js"&gt;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&lt;/script&gt;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&lt;/head&gt;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&lt;!-- roda cedo demais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4279"/>
            <a:ext cx="3520439" cy="624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Erro: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Cannot read properties of null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&lt;head&gt;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&lt;script src="app.js"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    defer&gt;&lt;/script&gt;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&lt;/head&gt;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&lt;!-- espera o HTML --&gt;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defer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roda depois de montar a página.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Selecionar e alterar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0759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querySelector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3677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primeiro que casa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1912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textContent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4830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troca o texto, sem risco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930651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classList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59835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add, remove, toggle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4218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71365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guarda o id no elemento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1783080"/>
            <a:ext cx="342900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0680" y="1929384"/>
            <a:ext cx="3108960" cy="20391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 = document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.querySelector('#titulo')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t.textContent = 'Cardápio'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t.classList.add('destaque')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botao = document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.querySelector('button')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botao.dataset.id = '3'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&lt;button data-id="3"&gt;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atenção!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innerHTML com dado de fora: 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645919"/>
          </a:xfrm>
          <a:prstGeom prst="roundRect">
            <a:avLst>
              <a:gd name="adj" fmla="val 3333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353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campo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.querySelector('#nome')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const saudacao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.querySelector('#saudacao')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saudacao.innerHTML =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`Olá, ${campo.value}!`</a:t>
            </a:r>
          </a:p>
          <a:p>
            <a:r>
              <a:rPr sz="1200" b="1">
                <a:solidFill>
                  <a:srgbClr val="C9D3C0"/>
                </a:solidFill>
                <a:latin typeface="Courier New"/>
              </a:rPr>
              <a:t>// valor: &lt;img src=x onerror=...&gt;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3520439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navegador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executa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o que foi digitado.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645919"/>
          </a:xfrm>
          <a:prstGeom prst="roundRect">
            <a:avLst>
              <a:gd name="adj" fmla="val 333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353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campo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.querySelector('#nome')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const saudacao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.querySelector('#saudacao')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saudacao.textContent =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`Olá, ${campo.value}!`</a:t>
            </a:r>
          </a:p>
          <a:p>
            <a:r>
              <a:rPr sz="1200" b="1">
                <a:solidFill>
                  <a:srgbClr val="99CB38"/>
                </a:solidFill>
                <a:latin typeface="Courier New"/>
              </a:rPr>
              <a:t>// vira só 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977639"/>
            <a:ext cx="3520439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textContent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nunca interpreta HTML.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é seguro para exibir o nome digitado pelo usuário?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innerHTML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textContent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outerHTML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insertAdjacentHTML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é seguro para exibir o nome digitado pelo usuário?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innerHTML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textContent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outerHTML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insertAdjacentHTML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Listas a partir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tela é o reflexo do array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Criar um elemento em 4 passos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Criar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elemento novo, solto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183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17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175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Preencher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texto e classes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63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63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Inserir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no lugar certo da árvore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8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0085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Remover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quando não serve mais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39440"/>
            <a:ext cx="8229600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285744"/>
            <a:ext cx="7909560" cy="1139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lista = document.querySelector('ul')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a lista da página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li = document.createElement('li')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1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li.textContent = 'Pastel'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lista.append(li)         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3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li.remove()              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 função renderizar()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5760720" cy="3291840"/>
          </a:xfrm>
          <a:prstGeom prst="roundRect">
            <a:avLst>
              <a:gd name="adj" fmla="val 1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5440679" cy="2999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cardapio = [{ id: 1, nome: 'Coxinha', preco: 5 }]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const lista = document.querySelector('ul')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function renderizar(itens)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lista.replaceChildren()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for (const item of itens)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const li = document.createElement('li')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li.textContent = `${item.nome}: R$ ${item.preco}`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const btn = document.createElement('button')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btn.textContent = 'Adicionar'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btn.dataset.id = item.id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li.append(btn)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lista.append(li)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renderizar(cardapio)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173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dados vivem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no array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2316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Limpa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antes de redesenhar.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2900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botão guarda 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id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dataset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Filtrar = montar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outra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lista e desenhar de novo.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cardápio original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não muda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: ele continua com os 3 itens.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036320"/>
            <a:ext cx="4206240" cy="3230880"/>
          </a:xfrm>
          <a:prstGeom prst="roundRect">
            <a:avLst>
              <a:gd name="adj" fmla="val 1698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182624"/>
            <a:ext cx="3886199" cy="29382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cardapio = [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'Coxinha', preco: 5 },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'Açaí', preco: 18 },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'Suco', preco: 6 },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baratos = []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for (const item of cardapio)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if (item.preco &lt;= 6)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baratos.push(item)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renderizar(baratos)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renderizar(): slide anterior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Onde o Suco aparece na página?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ul = document.querySelector('ul')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'Suco'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fim da lista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começo da lista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Em lugar nenhum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lugar da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Onde o Suco aparece na página?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ul = document.querySelector('ul')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'Suco'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fim da lista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começo da lista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Em lugar nenhum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520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lugar da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Eventos e delegação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usuário faz algo, uma função reage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D3C0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Evento é campainha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749039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428999" cy="1764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botao = document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.querySelector('button')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botao.addEventListener(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'click',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() =&gt; console.log('oi')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evento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a campainha tocando.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listener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quem atende a porta.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A cada tecla, monte a lista dos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achados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e desenhe de novo.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É o laço do filtro, só que dentro de um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868680"/>
            <a:ext cx="4206240" cy="3566160"/>
          </a:xfrm>
          <a:prstGeom prst="roundRect">
            <a:avLst>
              <a:gd name="adj" fmla="val 1538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014983"/>
            <a:ext cx="3886199" cy="32735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busca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.querySelector('#busca')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function buscar()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const termo = busca.value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const achados = []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for (const item of cardapio)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if (item.nome.includes(termo))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  achados.push(item)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renderizar(achados)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busca.addEventListener('input',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buscar)</a:t>
            </a:r>
          </a:p>
          <a:p>
            <a:r>
              <a:rPr sz="1200" b="1">
                <a:solidFill>
                  <a:srgbClr val="99CB38"/>
                </a:solidFill>
                <a:latin typeface="Courier New"/>
              </a:rPr>
              <a:t>// cardapio e renderizar(): bloco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47472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O botão diz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qual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item: procure no cardápio.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67766C"/>
                </a:solidFill>
                <a:latin typeface="Courier New"/>
              </a:rPr>
              <a:t>dataset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devolve texto: use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Number()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antes do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===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4389120" cy="3017520"/>
          </a:xfrm>
          <a:prstGeom prst="roundRect">
            <a:avLst>
              <a:gd name="adj" fmla="val 1818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89304"/>
            <a:ext cx="4069079" cy="27249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cardapio = [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{ id: 1, nome: 'Coxinha', preco: 5 },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{ id: 2, nome: 'Pastel', preco: 8 },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let carrinho = []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function adicionar(id)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for (const item of cardapio)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if (item.id === Number(id))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  carrinho.push(item)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mostrarTotal()   </a:t>
            </a:r>
            <a:r>
              <a:rPr sz="1200" b="1">
                <a:solidFill>
                  <a:srgbClr val="99CB38"/>
                </a:solidFill>
                <a:latin typeface="Courier New"/>
              </a:rPr>
              <a:t>// próximo slide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Um laço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soma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o total do carrinho.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acumulador da aula de laços: começa em 0 e soma a cada volta.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333500"/>
            <a:ext cx="4206240" cy="2636520"/>
          </a:xfrm>
          <a:prstGeom prst="roundRect">
            <a:avLst>
              <a:gd name="adj" fmla="val 208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479803"/>
            <a:ext cx="3886199" cy="2343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total = 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.querySelector('#total')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function mostrarTotal()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let soma = 0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for (const item of carrinho)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soma += item.preco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total.textContent = `R$ ${soma}`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carrinho: slide anterior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Delegação de eventos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706880"/>
          </a:xfrm>
          <a:prstGeom prst="roundRect">
            <a:avLst>
              <a:gd name="adj" fmla="val 3214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4142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100" b="1">
                <a:solidFill>
                  <a:srgbClr val="FFFFFF"/>
                </a:solidFill>
                <a:latin typeface="Courier New"/>
              </a:rPr>
              <a:t>const lista = document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.querySelector('#cardapio')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const botoes = lista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.querySelectorAll('button')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for (const b of botoes) {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b.addEventListener('click',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adicionar)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38599"/>
            <a:ext cx="3520439" cy="350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Botão criado depois fica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surdo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874519"/>
          </a:xfrm>
          <a:prstGeom prst="roundRect">
            <a:avLst>
              <a:gd name="adj" fmla="val 292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5819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100" b="1">
                <a:solidFill>
                  <a:srgbClr val="FFFFFF"/>
                </a:solidFill>
                <a:latin typeface="Courier New"/>
              </a:rPr>
              <a:t>const lista = document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.querySelector('#cardapio')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lista.addEventListener('click',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(e) =&gt; {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const id = e.target.dataset.id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if (id) {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  adicionar(id)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}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206240"/>
            <a:ext cx="3520439" cy="182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listener no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pai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serve a todos.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está errado?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botao = document.querySelector('button')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function adicionar() { console.log('adicionou')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botao.addEventListener('click', adicionar())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adicionar()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roda na hora, não no clique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Falta ponto e vírgula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Deveria ser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'onclick'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está errado?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botao = document.querySelector('button')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function adicionar() { console.log('adicionou') }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botao.addEventListener('click', adicionar())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adicionar()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 roda na hora, não no clique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Falta ponto e vírgula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Deveria ser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'onclick'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Formulários acessíveis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submit, validação e o leitor de 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E2B16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formulário que recarrega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645919"/>
          </a:xfrm>
          <a:prstGeom prst="roundRect">
            <a:avLst>
              <a:gd name="adj" fmla="val 3333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353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form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.querySelector('form')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form.addEventListener(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'submit', () =&gt;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console.log('enviou')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})</a:t>
            </a:r>
          </a:p>
          <a:p>
            <a:r>
              <a:rPr sz="1200" b="1">
                <a:solidFill>
                  <a:srgbClr val="C9D3C0"/>
                </a:solidFill>
                <a:latin typeface="Courier New"/>
              </a:rPr>
              <a:t>// a página recarrega!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3520439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dados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somem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com o recarregamento.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645919"/>
          </a:xfrm>
          <a:prstGeom prst="roundRect">
            <a:avLst>
              <a:gd name="adj" fmla="val 333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353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form = document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.querySelector('form')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form.addEventListener(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'submit', (e) =&gt;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e.preventDefault()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console.log('enviou')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977639"/>
            <a:ext cx="3520439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preventDefault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segura o envio padrão.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27432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Leia cada campo pelo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.value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e valide com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HTML ajuda: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required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e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type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validam o básico.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082040"/>
            <a:ext cx="5120640" cy="3139440"/>
          </a:xfrm>
          <a:prstGeom prst="roundRect">
            <a:avLst>
              <a:gd name="adj" fmla="val 174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1228344"/>
            <a:ext cx="4800599" cy="28468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100" b="1">
                <a:solidFill>
                  <a:srgbClr val="FFFFFF"/>
                </a:solidFill>
                <a:latin typeface="Courier New"/>
              </a:rPr>
              <a:t>const form = document.querySelector('#pedido')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const inputNome = document.querySelector('#nome')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const inputZap = document.querySelector('#zap')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const aviso = document.querySelector('#aviso')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const msg = document.querySelector('#mensagem')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form.addEventListener('submit', (e) =&gt; {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e.preventDefault()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const nome = inputNome.value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const zap = inputZap.value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if (nome === '' || zap === '') {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aviso.textContent = 'Preencha!'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  return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  msg.textContent = `Pedido: ${nome}`</a:t>
            </a:r>
          </a:p>
          <a:p>
            <a:r>
              <a:rPr sz="1100" b="1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74903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Se a tela muda,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anuncie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: uma região viva lê as mudanças.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 região existe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vazia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desde o início; o JS só troca o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69720"/>
            <a:ext cx="4114800" cy="2164080"/>
          </a:xfrm>
          <a:prstGeom prst="roundRect">
            <a:avLst>
              <a:gd name="adj" fmla="val 253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716023"/>
            <a:ext cx="3794759" cy="187147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&lt;p id="aviso" role="status"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aria-live="polite"&gt;&lt;/p&gt;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aviso = document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.querySelector('#aviso')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aviso.textContent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'Coxinha adicionada.'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o leitor de tela anuncia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Erro que o leitor de tela lê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lanchonete-do-campus/pedido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WhatsApp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029967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029967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81 9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0545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C8191E"/>
                </a:solidFill>
                <a:latin typeface="Calibri"/>
              </a:rPr>
              <a:t>Informe o número com DDD.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39"/>
            <a:ext cx="155448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39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Fazer pedido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777239"/>
          </a:xfrm>
          <a:prstGeom prst="roundRect">
            <a:avLst>
              <a:gd name="adj" fmla="val 7058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4114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O leitor lê o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erro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com o campo.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foco vai ao primeiro erro.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331719"/>
            <a:ext cx="4023360" cy="2194560"/>
          </a:xfrm>
          <a:prstGeom prst="roundRect">
            <a:avLst>
              <a:gd name="adj" fmla="val 24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2478023"/>
            <a:ext cx="3703320" cy="1901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campo = 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.querySelector('#zap')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erro = 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.querySelector('#zap-erro')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campo.setAttribute(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'aria-invalid', 'true')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erro.textContent =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'Informe o número com DDD.'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campo.focus()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Sem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e.preventDefault()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no submit, 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de diferente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 página recarrega e os dados somem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 no console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formulário não envia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Sem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e.preventDefault()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no submit, o que acontece?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de diferente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A página recarrega e os dados somem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 no console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formulário não envia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Projeto valendo nota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Cardápio Digital da lanchonete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Projeto: Cardápio Digital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lanchonete-do-campus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783080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Buscar no cardápio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58568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 · R$ 5,00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258568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06039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Bolo de rolo · R$ 7,00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606039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953511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Suco de caju · R$ 6,00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2953511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+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346703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3438143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Carrinho (2 itens)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438143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R$ 13,00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85615"/>
            <a:ext cx="155448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785615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Fazer pedido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1690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1463039"/>
            <a:ext cx="3566160" cy="2880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Um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cardápio digital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com busca, carrinho e pedido.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Usa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tudo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do JS: dados, DOM, eventos e formulário.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avaliação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Rubrica: 10 pontos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Dados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298448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298448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ourier New"/>
              </a:rPr>
              <a:t>JSON.parse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 cardápio, com 10 itens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298448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1,0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28216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7282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Renderizar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1728216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77440" y="1728216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lista com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createElement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textContent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728216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1728216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2,0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57984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15798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Busca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157984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21579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filtra pelo nome a cada tecla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157984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6679" y="2157984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1,5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87752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5877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Carrinho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87752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77440" y="258775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adicionar e remover com </a:t>
            </a:r>
            <a:r>
              <a:rPr sz="1600" b="1" i="0">
                <a:solidFill>
                  <a:srgbClr val="7C2BD0"/>
                </a:solidFill>
                <a:latin typeface="Calibri"/>
              </a:rPr>
              <a:t>delegação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total somado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587752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2587752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2,0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17520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01752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Salvar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3017520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77440" y="3017520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o carrinho volta depois do F5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3017520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79" y="301752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1,0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447287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3447287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Pedido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3447287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77440" y="3447287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formulário validado e mensagem do pedido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3447287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26679" y="3447287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1,5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877055"/>
            <a:ext cx="17373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877055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Acessível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3877055"/>
            <a:ext cx="5440680" cy="38404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77440" y="3877055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labels, botões reais e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role="status"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3877055"/>
            <a:ext cx="960120" cy="38404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26679" y="3877055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1,0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325111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Bônus até +1 · </a:t>
            </a:r>
            <a:r>
              <a:rPr sz="1500" b="1" i="0">
                <a:solidFill>
                  <a:srgbClr val="C8191E"/>
                </a:solidFill>
                <a:latin typeface="Calibri"/>
              </a:rPr>
              <a:t>innerHTML com dado do usuário: −1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Roteiro sugerido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JSON e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renderizar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Busca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231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evento input e laço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Carrinho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4231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delegação e soma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08483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Salvar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4231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localStorage com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8483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Pedido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4231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formulário e mensagem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Regras do projeto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0759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Em duplas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36776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dois explicam qualquer parte do código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1912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 dirty="0" err="1">
                <a:solidFill>
                  <a:srgbClr val="2B2B2B"/>
                </a:solidFill>
                <a:latin typeface="Calibri"/>
              </a:rPr>
              <a:t>Prazo</a:t>
            </a:r>
            <a:r>
              <a:rPr sz="2000" b="1" i="0" dirty="0">
                <a:solidFill>
                  <a:srgbClr val="2B2B2B"/>
                </a:solidFill>
                <a:latin typeface="Calibri"/>
              </a:rPr>
              <a:t>: 04/11, </a:t>
            </a:r>
            <a:r>
              <a:rPr lang="pt-BR" sz="2000" b="1" i="0" dirty="0">
                <a:solidFill>
                  <a:srgbClr val="2B2B2B"/>
                </a:solidFill>
                <a:latin typeface="Calibri"/>
              </a:rPr>
              <a:t>19:00</a:t>
            </a:r>
            <a:endParaRPr sz="20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2448306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pelo Classroom, em .zip com os 3 arquivos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30651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IA pode ajudar a entender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59835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mas a dupla defende cada linha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2857499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376047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76047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74218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Defesa de 3 minutos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71365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eu escolho um trecho e vocês explicam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Comece agora: etapa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40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Baixe o projeto inicial no Classroom.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 dirty="0" err="1">
                <a:solidFill>
                  <a:srgbClr val="2B2B2B"/>
                </a:solidFill>
                <a:latin typeface="Calibri"/>
              </a:rPr>
              <a:t>Converta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 o </a:t>
            </a:r>
            <a:r>
              <a:rPr sz="1900" b="0" i="0" dirty="0" err="1">
                <a:solidFill>
                  <a:srgbClr val="2B2B2B"/>
                </a:solidFill>
                <a:latin typeface="Calibri"/>
              </a:rPr>
              <a:t>texto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 com </a:t>
            </a:r>
            <a:r>
              <a:rPr sz="1900" b="1" i="0" dirty="0" err="1">
                <a:solidFill>
                  <a:srgbClr val="2B2B2B"/>
                </a:solidFill>
                <a:latin typeface="Courier New"/>
              </a:rPr>
              <a:t>JSON.parse</a:t>
            </a:r>
            <a:r>
              <a:rPr sz="190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Escreva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renderizar(itens)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Cada item com nome, preço e botão.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Ao fim da aula: a lista na tela.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971800"/>
          </a:xfrm>
          <a:prstGeom prst="roundRect">
            <a:avLst>
              <a:gd name="adj" fmla="val 184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26791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99CB38"/>
                </a:solidFill>
                <a:latin typeface="Courier New"/>
              </a:rPr>
              <a:t>// app.js (projeto inicial)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texto: o JSON que já vem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no começo do arquivo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cardapio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JSON.parse(texto)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lista = document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.querySelector('#cardapio')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renderizar(itens)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renderizar(cardapio)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Dados viram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objetos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; o JSON leva e traz.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&lt;/&gt;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A tela é o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reflexo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dos dados.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Eventos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delegação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dão vida à página.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Assíncrono: fetch 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próxima aula · traga o projeto rodando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Projeto: entrega até 04/11, 23h59 no Classroom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Dúvidas do projeto no começo da próxima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6874</Words>
  <Application>Microsoft Office PowerPoint</Application>
  <PresentationFormat>Apresentação na tela (16:9)</PresentationFormat>
  <Paragraphs>856</Paragraphs>
  <Slides>48</Slides>
  <Notes>48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Araujo</cp:lastModifiedBy>
  <cp:revision>1</cp:revision>
  <dcterms:created xsi:type="dcterms:W3CDTF">2013-01-27T09:14:16Z</dcterms:created>
  <dcterms:modified xsi:type="dcterms:W3CDTF">2026-10-21T23:56:48Z</dcterms:modified>
  <cp:category/>
</cp:coreProperties>
</file>