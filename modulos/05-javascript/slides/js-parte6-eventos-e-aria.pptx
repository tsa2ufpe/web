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Sexta e última aula do módulo de JavaScript no navegador. Plano de ensino: eventos e delegação de eventos, validação de formulários e acessibilidade em componentes dinâmicos (ARIA).</a:t>
            </a:r>
          </a:p>
          <a:p>
            <a:r>
              <a:t>Estratégia: atividade prática guiada. Os blocos de conteúdo são curtos; a segunda metade é a construção de uma lista de tarefas acessível.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 a página passa a reagir ao usuário. Os blocos 1 a 3 são eventos; o 4 junta eventos com formulários (que a turma conhece do HTML); o 5 retoma a acessibilidade do módulo 04, agora para o que o JavaScript muda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Retomada da aula de DOM: textContent 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O texto aparece literalmente, com os sinais de menor e maior. textContent nunca interpreta HTML: é por isso que ele é seguro contra XSS.</a:t>
            </a:r>
          </a:p>
          <a:p>
            <a:r>
              <a:t>Com innerHTML, o "oi" apareceria em negrito, e é essa mesma interpretação que permite o ataque.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o navegador dispara um evento (keydown, depois submit se o campo estiver num formulário) e o JavaScript, se estiver "escutando", reage.</a:t>
            </a:r>
          </a:p>
          <a:p>
            <a:r>
              <a:t>Tudo o que é interativo na web funciona assim: o usuário faz algo, o navegador avisa, uma função roda.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bloco. A turma já viu addEventListener de relance na aula de arrow functions (07/10).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addEventListener recebe o nome do evento e uma função. A função não roda agora: ela fica registrada e roda cada vez que o evento acontecer (o callback de 07/10).</a:t>
            </a:r>
          </a:p>
          <a:p>
            <a:r>
              <a:t>Pode haver vários listeners para o mesmo evento, como várias pessoas em casa que ouvem a campainha.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ciclo completo de qualquer interface: evento, atualização dos dados, atualização da tela.</a:t>
            </a:r>
          </a:p>
          <a:p>
            <a:r>
              <a:t>Live coding: botão de curtir com contador. Depois, pedir que a turma faça o botão de descurtir.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também dispara com Enter ou Espaço num button: por isso usar button (e não div) garante acessibilidade de teclado de graça.</a:t>
            </a:r>
          </a:p>
          <a:p>
            <a:r>
              <a:t>input dispara a cada alteração do campo; change só quando o campo perde o foco depois de mudar.</a:t>
            </a:r>
          </a:p>
          <a:p>
            <a:r>
              <a:t>submit é disparado no form, não no botão. focus/blur: o campo ganhou ou perdeu foco.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atributo onclick funciona, mas mistura comportamento com estrutura (o mesmo argumento do style no CSS), aceita um único handler e depende de funções globais.</a:t>
            </a:r>
          </a:p>
          <a:p>
            <a:r>
              <a:t>Vocês vão ver onclick em código antigo e em tutoriais; a própria prática 05 do repositório usa. Reconheçam, mas escrevam com addEventListener.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 muito comum, e silencioso.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Com parênteses, curtir() é executada imediatamente, e o que vai para o addEventListener é o valor que ela retorna (provavelmente undefined). O clique não faz nada.</a:t>
            </a:r>
          </a:p>
          <a:p>
            <a:r>
              <a:t>Passe a função, não o resultado: addEventListener('click', curtir) ou () =&gt; curtir().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bloco, curto. O listener recebe um objeto com os detalhes do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navegador chama o listener passando um objeto evento; por convenção o parâmetro se chama e, evt ou evento.</a:t>
            </a:r>
          </a:p>
          <a:p>
            <a:r>
              <a:t>target é o elemento exato onde o evento aconteceu (pode ser um filho do elemento que tem o listener). currentTarget é o elemento em que o listener foi registrado. A diferença é a base da delegação (bloco 3).</a:t>
            </a:r>
          </a:p>
          <a:p>
            <a:r>
              <a:t>preventDefault cancela o que o navegador faria sozinho: recarregar a página no submit, seguir um link, marcar um checkbox.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renderizar e o cardápio são os da aula de DOM (28/10); o filter é de 14/10.</a:t>
            </a:r>
          </a:p>
          <a:p>
            <a:r>
              <a:t>Problema que a turma vai notar: "aca" não acha "Açaí", e "AÇAÍ" também não. Resolver maiúsculas e acentos é o desafio 2 da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Fixação dos eventos de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input dispara a cada alteração do valor. change só dispara quando o campo perde o foco, o que daria uma busca "atrasada".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Terceiro bloco, o conceito mais importante da aula para listas dinâmicas.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antes de explicar: o evento não fica só no elemento clicado. Depois de acontecer no alvo, ele "borbulha" (bubbling) por todos os ancestrais, até o document.</a:t>
            </a:r>
          </a:p>
          <a:p>
            <a:r>
              <a:t>Quem tiver um listener no caminho é avisado.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um listener na ul, clicar em qualquer li dispara esse listener, e e.target diz qual li foi.</a:t>
            </a:r>
          </a:p>
          <a:p>
            <a:r>
              <a:t>stopPropagation() interrompe a subida; raramente é necessário e costuma esconder bugs.</a:t>
            </a:r>
          </a:p>
          <a:p>
            <a:r>
              <a:t>Live coding: listener na ul, clicar em itens diferentes, ver e.target mudar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 da esquerda: os listeners são postos nos li que existem naquele momento. Quando o renderizar cria li novos, eles não têm listener.</a:t>
            </a:r>
          </a:p>
          <a:p>
            <a:r>
              <a:t>Delegação: um único listener no elemento pai, que existe desde o início e não é recriado. Pelo e.target sabemos em qual filho foi o clique.</a:t>
            </a:r>
          </a:p>
          <a:p>
            <a:r>
              <a:t>Vantagens: funciona para itens criados depois, e é um listener só, mesmo com mil itens.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clique pode cair no span ou no button dentro do li; e.target é o elemento mais interno. closest procura, a partir dele, subindo, o primeiro que casa com o seletor (incluindo ele mesmo).</a:t>
            </a:r>
          </a:p>
          <a:p>
            <a:r>
              <a:t>O if (li) ignora cliques na ul fora de qualquer li (closest devolve null).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botão Remover é criado no renderizar com btn.dataset.remover = tarefa.id (o dataset da aula de DOM).</a:t>
            </a:r>
          </a:p>
          <a:p>
            <a:r>
              <a:t>O listener está na ul. Ele descobre o botão com closest, lê o id, atualiza o array (filter, sem mutar) e redesenha.</a:t>
            </a:r>
          </a:p>
          <a:p>
            <a:r>
              <a:t>Esse é exatamente o miolo da prática de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× currentTarget.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'LI'. O listener está na ul, mas e.target é o elemento onde o clique aconteceu. e.currentTarget.tagName daria 'UL'.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Quarto bloco. A turma conhece formulários e validação em HTML (aula de 12/08).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padrão, enviar um formulário faz o navegador navegar para o action (ou recarregar a mesma página). Tudo o que estava na memória do JS se perde.</a:t>
            </a:r>
          </a:p>
          <a:p>
            <a:r>
              <a:t>Em aplicações feitas com JS, o primeiro comando do listener de submit é e.preventDefault().</a:t>
            </a:r>
          </a:p>
          <a:p>
            <a:r>
              <a:t>Por que ouvir submit e não click no botão: submit também dispara com Enter no campo, e a validação nativa do HTML roda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FormData coleta todos os campos do formulário que têm atributo name. Object.fromEntries transforma em objeto comum (entries, aula de objetos).</a:t>
            </a:r>
          </a:p>
          <a:p>
            <a:r>
              <a:t>Sem name, o campo é ignorado: é o erro mais comum.</a:t>
            </a:r>
          </a:p>
          <a:p>
            <a:r>
              <a:t>Esse objeto é o que vai para o servidor na aula de fetch (11/11), com JSON.stringify.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Validação nativa: o navegador impede o envio e mostra a mensagem quando required, type, min, max, minlength ou pattern não são atendidos.</a:t>
            </a:r>
          </a:p>
          <a:p>
            <a:r>
              <a:t>O JS pode consultar o estado de cada campo em validity (valid, valueMissing, typeMismatch, tooShort...) e o formulário inteiro com checkValidity(); reportValidity() mostra as mensagens.</a:t>
            </a:r>
          </a:p>
          <a:p>
            <a:r>
              <a:t>Para mensagens próprias e acessíveis (bloco 5), usa-se novalidate no form e o JS decide o que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Qualquer pessoa pode abrir o DevTools, apagar o required e enviar o formulário. Ou mandar a requisição direto, sem navegador.</a:t>
            </a:r>
          </a:p>
          <a:p>
            <a:r>
              <a:t>A validação no front-end serve para o usuário corrigir rápido; a regra de verdade mora no servidor. Isso vale para o projeto integrador e para a vida profissional.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Fixação do erro comum do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O navegador faz o envio padrão, a página recarrega e o estado do JS se perde. No console não aparece erro nenhum, o que torna o bug confuso para quem não conhece.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Quinto bloco. Retoma o módulo 04 (WCAG, ARIA) com foco no que o JavaScript altera. Lembrar a Lei Brasileira de Inclusão (Lei 13.146/2015), que exige sites acessíveis.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enxerga vê o item aparecer na lista. Quem usa leitor de tela (NVDA, no Windows; TalkBack, no Android) não recebe aviso nenhum: o foco continua no botão e nada é lido.</a:t>
            </a:r>
          </a:p>
          <a:p>
            <a:r>
              <a:t>Se possível, demonstrar ao vivo com o NVDA (gratuito) ou com o leitor de tela do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aria-live marca uma região cujas mudanças de texto são anunciadas. polite espera o leitor terminar o que está falando; assertive interrompe (use pouco).</a:t>
            </a:r>
          </a:p>
          <a:p>
            <a:r>
              <a:t>role="status" já implica aria-live="polite"; os dois juntos são redundantes, mas inofensivos e dão mais compatibilidade.</a:t>
            </a:r>
          </a:p>
          <a:p>
            <a:r>
              <a:t>Se o elemento for criado só no momento da mensagem, alguns leitores não anunciam. Por isso ele fica no HTML desde o início.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Primeira regra do ARIA (módulo 04): se existe elemento HTML com a semântica, use o HTML. ARIA não adiciona comportamento, só informação para as tecnologias assistivas.</a:t>
            </a:r>
          </a:p>
          <a:p>
            <a:r>
              <a:t>O problema específico do JS: esses atributos descrevem estados. Se o JS muda o estado (abre o menu, invalida o campo) e não atualiza o atributo, o leitor de tela recebe informação falsa. ARIA desatualizado é pior que nenhum.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HTML inicial tem &lt;button aria-expanded="false" aria-controls="menu"&gt;, e o JS guarda let aberto = false. O código da direita roda dentro do listener de click do botão: cada clique inverte o estado, mostra ou esconde o menu e atualiza aria-expanded.</a:t>
            </a:r>
          </a:p>
          <a:p>
            <a:r>
              <a:t>setAttribute exige string, por isso o String(aberto).</a:t>
            </a:r>
          </a:p>
          <a:p>
            <a:r>
              <a:t>Esse é o desafio 3 da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HTML de base (módulo 04, seção 6): &lt;input id="email" aria-describedby="email-erro"&gt; e &lt;span id="email-erro" role="alert"&gt;&lt;/span&gt;.</a:t>
            </a:r>
          </a:p>
          <a:p>
            <a:r>
              <a:t>No submit: para cada campo inválido, aria-invalid="true" e a mensagem no span; para os válidos, aria-invalid="false" e span vazio. No fim, foco no primeiro inválido.</a:t>
            </a:r>
          </a:p>
          <a:p>
            <a:r>
              <a:t>Sem o foco, o usuário de leitor de tela precisa percorrer o formulário inteiro procurando o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do bloco de acessibilidade.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role="alert" (uma região viva assertiva). aria-label dá nome a um elemento; aria-hidden esconde do leitor de tela; tabindex controla o foco pelo teclado.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Segunda metade da aula. Prática guiada em etapas, como na aula passada: eu faço no projetor, a turma reproduz, avançamos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Etapas 1 a 5 cobrem o desafio 1. Cada etapa junta uma aula do módulo: formulário (HTML), eventos (hoje), renderizar (28/10), filter e dataset, localStorage (21/10).</a:t>
            </a:r>
          </a:p>
          <a:p>
            <a:r>
              <a:t>Ao final, testar só com o teclado: Tab até o campo, digitar, Enter, Tab até Remover, 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o exemplo integrado da apostila do módulo 05 (seção 8), agora construído pela turma.</a:t>
            </a:r>
          </a:p>
          <a:p>
            <a:r>
              <a:t>Detalhes que fazem diferença: o botão Remover de cada item com aria-label="Remover {tarefa}" (senão o leitor lê só "Remover, botão" várias vezes); depois de adicionar, form.reset() e campo.focus().</a:t>
            </a:r>
          </a:p>
          <a:p>
            <a:r>
              <a:t>Bônus para quem terminar: marcar como concluída (classe + aria-pressed ou checkbox) e contador só das 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normalize('NFD') separa a letra do acento (á vira a + acento combinante) e o replace remove os acentos. É um trecho para usar pronto, não para decorar.</a:t>
            </a:r>
          </a:p>
          <a:p>
            <a:r>
              <a:t>Filtro: cursos.filter(c =&gt; semAcento(c).includes(semAcento(busca.value))).</a:t>
            </a:r>
          </a:p>
          <a:p>
            <a:r>
              <a:t>Mensagem "Nenhum curso encontrado" no p com role="status", para o leitor de tela anunciar.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Solução: o toggle do slide "O estado precisa ser verdade"; para o Esc, um listener de keydown no document que, se o menu estiver aberto e e.key === 'Escape', fecha, atualiza o aria-expanded e chama btn.focus().</a:t>
            </a:r>
          </a:p>
          <a:p>
            <a:r>
              <a:t>É o exercício de nível 3 do módulo 04, agora com o JS que faltava.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do módulo de JavaScript no navegador: em seis aulas, da primeira variável a uma aplicação interativa, persistente e acessível.</a:t>
            </a:r>
          </a:p>
          <a:p>
            <a:r>
              <a:t>Pedir que cada um diga qual das seis aulas foi a mais difícil; é um bom termômetro para a revisão antes da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Próxima aula (11/11): programação assíncrona com fetch, Promises e async/await, tratamento de erros e consumo de uma API pública.</a:t>
            </a:r>
          </a:p>
          <a:p>
            <a:r>
              <a:t>A promessa da aula de JSON se cumpre: o texto do CEP de Palmares vai vir do ViaCEP, pela rede, e o formulário de hoje vai poder enviar dados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4960" y="0"/>
            <a:ext cx="3749039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86104"/>
            <a:ext cx="2926080" cy="117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aula_04.11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urier New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99CB38"/>
                </a:solidFill>
                <a:latin typeface="Calibri"/>
              </a:rPr>
              <a:t>Parte 6 · eventos e 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C9D3C0"/>
                </a:solidFill>
                <a:latin typeface="Calibri"/>
              </a:rPr>
              <a:t>Desenvolvimento de Sistemas Web · 04/11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Prof. Thiago Araújo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IFPE Campus Palmares · ADS 3º período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mapa_da_aula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Mapa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Eventos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424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424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424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 objeto evento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840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Propagação e delegação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Formulários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424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24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424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aria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Anunciar mudanças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840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840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Prática guiada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Aquecimento: o que aparece na tela?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19" y="1371600"/>
            <a:ext cx="630936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199" y="1517904"/>
            <a:ext cx="5989320" cy="804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li = document.createElement('li')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li.textContent = '&lt;b&gt;oi&lt;/b&gt;'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lista.append(li)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7C2BD0"/>
                </a:solidFill>
                <a:latin typeface="Calibri"/>
              </a:rPr>
              <a:t>oi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em negrito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 texto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&lt;b&gt;oi&lt;/b&gt;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Aquecimento: o que aparece na tela?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19" y="1371600"/>
            <a:ext cx="630936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199" y="1517904"/>
            <a:ext cx="5989320" cy="804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li = document.createElement('li')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li.textContent = '&lt;b&gt;oi&lt;/b&gt;'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lista.append(li)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7C2BD0"/>
                </a:solidFill>
                <a:latin typeface="Calibri"/>
              </a:rPr>
              <a:t>oi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em negrito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alibri"/>
              </a:rPr>
              <a:t>O texto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&lt;b&gt;oi&lt;/b&gt;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Você aperta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Enter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 no campo de busca. Quem percebeu?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usuário faz algo, uma função reage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aria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Evento é campainha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46020"/>
            <a:ext cx="3749039" cy="1371600"/>
          </a:xfrm>
          <a:prstGeom prst="roundRect">
            <a:avLst>
              <a:gd name="adj" fmla="val 4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92324"/>
            <a:ext cx="3428999" cy="10789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botao.addEventListener(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'click',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() =&gt; console.log('oi')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B16"/>
                </a:solidFill>
                <a:latin typeface="Calibri"/>
              </a:rPr>
              <a:t>O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evento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é a campainha tocando.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O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listener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é quem atende a porta.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Clicou, a tela mudou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rede 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@ifpe.palmares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19456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Foto da turma no laboratório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15184"/>
            <a:ext cx="118872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61518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♥ Curtir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09067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7C2BD0"/>
                </a:solidFill>
                <a:latin typeface="Calibri"/>
              </a:rPr>
              <a:t>13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curtidas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280160"/>
            <a:ext cx="4023360" cy="1706879"/>
          </a:xfrm>
          <a:prstGeom prst="roundRect">
            <a:avLst>
              <a:gd name="adj" fmla="val 3214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463039"/>
            <a:ext cx="3566160" cy="13411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Clique → função roda →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DOM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muda.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A ponte entre as aulas de funções e de DOM.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261360"/>
            <a:ext cx="4023360" cy="1264920"/>
          </a:xfrm>
          <a:prstGeom prst="roundRect">
            <a:avLst>
              <a:gd name="adj" fmla="val 433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407664"/>
            <a:ext cx="3703320" cy="9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let curtidas = 12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botao.addEventListener('click',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() =&gt; total.textContent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++curtidas)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Eventos do dia a 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116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116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clk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750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25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clique, ou Enter num botão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59" y="16116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6116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inp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15750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9225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 cada tecla num campo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0975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975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sub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0609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4084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formulário foi enviado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30975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0975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0609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keydown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34084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uma tecla foi pressionada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Também: </a:t>
            </a:r>
            <a:r>
              <a:rPr sz="2000" b="1" i="0">
                <a:solidFill>
                  <a:srgbClr val="2B2B2B"/>
                </a:solidFill>
                <a:latin typeface="Courier New"/>
              </a:rPr>
              <a:t>change</a:t>
            </a:r>
            <a:r>
              <a:rPr sz="2000" b="1" i="0">
                <a:solidFill>
                  <a:srgbClr val="2B2B2B"/>
                </a:solidFill>
                <a:latin typeface="Calibri"/>
              </a:rPr>
              <a:t>, </a:t>
            </a:r>
            <a:r>
              <a:rPr sz="2000" b="1" i="0">
                <a:solidFill>
                  <a:srgbClr val="2B2B2B"/>
                </a:solidFill>
                <a:latin typeface="Courier New"/>
              </a:rPr>
              <a:t>focus</a:t>
            </a:r>
            <a:r>
              <a:rPr sz="2000" b="1" i="0">
                <a:solidFill>
                  <a:srgbClr val="2B2B2B"/>
                </a:solidFill>
                <a:latin typeface="Calibri"/>
              </a:rPr>
              <a:t>, </a:t>
            </a:r>
            <a:r>
              <a:rPr sz="2000" b="1" i="0">
                <a:solidFill>
                  <a:srgbClr val="2B2B2B"/>
                </a:solidFill>
                <a:latin typeface="Courier New"/>
              </a:rPr>
              <a:t>blur</a:t>
            </a:r>
            <a:r>
              <a:rPr sz="2000" b="1" i="0">
                <a:solidFill>
                  <a:srgbClr val="2B2B2B"/>
                </a:solidFill>
                <a:latin typeface="Calibri"/>
              </a:rPr>
              <a:t>, </a:t>
            </a:r>
            <a:r>
              <a:rPr sz="2000" b="1" i="0">
                <a:solidFill>
                  <a:srgbClr val="2B2B2B"/>
                </a:solidFill>
                <a:latin typeface="Courier New"/>
              </a:rPr>
              <a:t>DOMContentLoaded</a:t>
            </a:r>
            <a:r>
              <a:rPr sz="2000" b="1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Nada de onclick no 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158240"/>
          </a:xfrm>
          <a:prstGeom prst="roundRect">
            <a:avLst>
              <a:gd name="adj" fmla="val 47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865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&lt;button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onclick="curtir()"&gt;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Curtir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&lt;/button&gt;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89960"/>
            <a:ext cx="3520439" cy="8991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Mistura HTML e JS; um handler só.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554479"/>
          </a:xfrm>
          <a:prstGeom prst="roundRect">
            <a:avLst>
              <a:gd name="adj" fmla="val 35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12618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&lt;button id="curtir"&gt;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Curtir&lt;/button&gt;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const b = document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.querySelector('#curtir')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b.addEventListener(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'click', curtir)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886199"/>
            <a:ext cx="352043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JS no arquivo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.js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; quantos quiser.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está errado?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6400800" cy="609600"/>
          </a:xfrm>
          <a:prstGeom prst="roundRect">
            <a:avLst>
              <a:gd name="adj" fmla="val 899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6080759" cy="3169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botao.addEventListener('click', curtir())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curtir()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roda na hora, não no clique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Falta ponto e vírgula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Deveria ser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'onclick'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está errado?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6400800" cy="609600"/>
          </a:xfrm>
          <a:prstGeom prst="roundRect">
            <a:avLst>
              <a:gd name="adj" fmla="val 899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6080759" cy="3169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botao.addEventListener('click', curtir())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curtir()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 roda na hora, não no clique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Falta ponto e vírgula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Deveria ser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'onclick'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O objeto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que o navegador conta sobre o que aconteceu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aria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que vem no evento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tgt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30759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e.target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36776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onde o evento nasceu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cur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1912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e.currentTarget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448306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onde está o listener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100" b="1" i="0">
                <a:solidFill>
                  <a:srgbClr val="1E2B16"/>
                </a:solidFill>
                <a:latin typeface="Courier New"/>
              </a:rPr>
              <a:t>prev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930651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e.preventDefault()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259835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cancela o comportamento padrão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4218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e.key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071365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qual tecla (no keydown)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103120"/>
            <a:ext cx="342900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249424"/>
            <a:ext cx="3108960" cy="1399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campo.addEventListener(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'keydown', (e)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if (e.key === 'Enter')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buscar(campo.value)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Busca a cada tecla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lanchonete.com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1783080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783080"/>
            <a:ext cx="32918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Aça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258568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Açaí 500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2258568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R$ 18,00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60603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1 de 5 itens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4285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463039"/>
            <a:ext cx="3566160" cy="9143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E2B16"/>
                </a:solidFill>
                <a:latin typeface="Courier New"/>
              </a:rPr>
              <a:t>input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+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filter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+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renderizar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: busca instantânea.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Três aulas numa função só.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834639"/>
            <a:ext cx="402336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980944"/>
            <a:ext cx="3703320" cy="1399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busca.addEventListener(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'input', ()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const t = busca.value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renderizar(cardapio.filter(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  i =&gt; i.nome.includes(t)))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})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evento usar para filtrar a cada tecla?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click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submit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evento usar para filtrar a cada tecla?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click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input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submit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Propagação e delegação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Um listener no pai serve para todos os filhos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aria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02920"/>
            <a:ext cx="7498079" cy="3383280"/>
          </a:xfrm>
          <a:prstGeom prst="rect">
            <a:avLst/>
          </a:prstGeom>
          <a:solidFill>
            <a:srgbClr val="FFFFFF"/>
          </a:solidFill>
          <a:ln w="2222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1700" y="685800"/>
            <a:ext cx="4800599" cy="2194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B2B2B"/>
                </a:solidFill>
                <a:latin typeface="Courier New"/>
              </a:rPr>
              <a:t>clique no &lt;li&gt;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B2B2B"/>
                </a:solidFill>
                <a:latin typeface="Courier New"/>
              </a:rPr>
              <a:t>  → o &lt;ul&gt; fica sabendo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B2B2B"/>
                </a:solidFill>
                <a:latin typeface="Courier New"/>
              </a:rPr>
              <a:t>    → o &lt;body&gt; fica sabendo</a:t>
            </a:r>
          </a:p>
          <a:p>
            <a:pPr algn="l"/>
            <a:r>
              <a:rPr sz="2200" b="1" i="0">
                <a:solidFill>
                  <a:srgbClr val="2B2B2B"/>
                </a:solidFill>
                <a:latin typeface="Courier New"/>
              </a:rPr>
              <a:t>      → o document também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 i="1">
                <a:solidFill>
                  <a:srgbClr val="67766C"/>
                </a:solidFill>
                <a:latin typeface="Calibri"/>
              </a:rPr>
              <a:t>Evento é fofoca: sobe até o topo.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67766C"/>
                </a:solidFill>
                <a:latin typeface="Calibri"/>
              </a:rPr>
              <a:t>Bubbling, em tradução livre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evento sobe: bubbling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Nasce aqui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é o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e.target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183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17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175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175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pai é avisado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263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863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63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E2B16"/>
                </a:solidFill>
                <a:latin typeface="Courier New"/>
              </a:rPr>
              <a:t>body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630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Sobe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630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 o avô também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08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085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doc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85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Topo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85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até o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document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92880"/>
            <a:ext cx="8229600" cy="579120"/>
          </a:xfrm>
          <a:prstGeom prst="roundRect">
            <a:avLst>
              <a:gd name="adj" fmla="val 947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39184"/>
            <a:ext cx="7909560" cy="2865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lista.addEventListener('click', (e) =&gt; console.log(e.target))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&lt;li&gt;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Delegação de eventos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554479"/>
          </a:xfrm>
          <a:prstGeom prst="roundRect">
            <a:avLst>
              <a:gd name="adj" fmla="val 3529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12618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document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.querySelectorAll('li')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.forEach(li =&gt;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li.addEventListener(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  'click', marcar))</a:t>
            </a:r>
          </a:p>
          <a:p>
            <a:r>
              <a:rPr sz="1300" b="1">
                <a:solidFill>
                  <a:srgbClr val="C9D3C0"/>
                </a:solidFill>
                <a:latin typeface="Courier New"/>
              </a:rPr>
              <a:t>// itens novos: nada!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86199"/>
            <a:ext cx="352043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Item criado depois fica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surdo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554479"/>
          </a:xfrm>
          <a:prstGeom prst="roundRect">
            <a:avLst>
              <a:gd name="adj" fmla="val 35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12618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lista.addEventListener(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'click', (e) =&gt;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const li =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e.target.closest('li')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if (li) marcar(li)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886199"/>
            <a:ext cx="352043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listener no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pai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serve a todos.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749039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closest()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sobe até achar o ancestral que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casa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com o seletor.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Se nada casar, devolve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null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: por isso o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if (li)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69720"/>
            <a:ext cx="4114800" cy="2164080"/>
          </a:xfrm>
          <a:prstGeom prst="roundRect">
            <a:avLst>
              <a:gd name="adj" fmla="val 253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16023"/>
            <a:ext cx="3794759" cy="1871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&lt;li data-id="3"&gt;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&lt;span&gt;Açaí&lt;/span&gt;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&lt;button&gt;Remover&lt;/button&gt;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&lt;/li&gt;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clique no botão: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e.target     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&lt;button&gt;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e.target.closest('li')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&lt;li&gt;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Remover com um listener só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4381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lista de tarefas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196138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Estudar 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5436" y="1783080"/>
            <a:ext cx="13578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Remover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130552"/>
            <a:ext cx="196138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Fazer desafio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5436" y="2130552"/>
            <a:ext cx="13578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Remover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478024"/>
            <a:ext cx="196138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Postar no Classroom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5436" y="2478024"/>
            <a:ext cx="13578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Remover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8254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3 tarefas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1280160"/>
            <a:ext cx="4480560" cy="1371600"/>
          </a:xfrm>
          <a:prstGeom prst="roundRect">
            <a:avLst>
              <a:gd name="adj" fmla="val 4000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463039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E2B16"/>
                </a:solidFill>
                <a:latin typeface="Calibri"/>
              </a:rPr>
              <a:t>Um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listener para todos.</a:t>
            </a:r>
          </a:p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dataset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diz qual remover.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2926079"/>
            <a:ext cx="4480560" cy="1600199"/>
          </a:xfrm>
          <a:prstGeom prst="roundRect">
            <a:avLst>
              <a:gd name="adj" fmla="val 3428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072384"/>
            <a:ext cx="4160520" cy="13075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btn = e.target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.closest('[data-remover]')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if (!btn) return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tarefas = tarefas.filter(t =&gt;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t.id !== btn.dataset.remover)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renderizar(tarefas)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Clique num </a:t>
            </a:r>
            <a:r>
              <a:rPr sz="2400" b="1" i="0">
                <a:solidFill>
                  <a:srgbClr val="2B2B2B"/>
                </a:solidFill>
                <a:latin typeface="Courier New"/>
              </a:rPr>
              <a:t>&lt;li&gt;</a:t>
            </a:r>
            <a:r>
              <a:rPr sz="2400" b="1" i="0">
                <a:solidFill>
                  <a:srgbClr val="2B2B2B"/>
                </a:solidFill>
                <a:latin typeface="Calibri"/>
              </a:rPr>
              <a:t> dentro da </a:t>
            </a:r>
            <a:r>
              <a:rPr sz="2400" b="1" i="0">
                <a:solidFill>
                  <a:srgbClr val="2B2B2B"/>
                </a:solidFill>
                <a:latin typeface="Courier New"/>
              </a:rPr>
              <a:t>&lt;ul&gt;</a:t>
            </a:r>
            <a:r>
              <a:rPr sz="2400" b="1" i="0">
                <a:solidFill>
                  <a:srgbClr val="2B2B2B"/>
                </a:solidFill>
                <a:latin typeface="Calibri"/>
              </a:rPr>
              <a:t>. O que aparece?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371600"/>
            <a:ext cx="621792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517904"/>
            <a:ext cx="5897879" cy="804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ul.addEventListener('click', (e) =&gt; {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  console.log(e.target.tagName)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'UL'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'LI'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'BODY'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Clique num </a:t>
            </a:r>
            <a:r>
              <a:rPr sz="2400" b="1" i="0">
                <a:solidFill>
                  <a:srgbClr val="2B2B2B"/>
                </a:solidFill>
                <a:latin typeface="Courier New"/>
              </a:rPr>
              <a:t>&lt;li&gt;</a:t>
            </a:r>
            <a:r>
              <a:rPr sz="2400" b="1" i="0">
                <a:solidFill>
                  <a:srgbClr val="2B2B2B"/>
                </a:solidFill>
                <a:latin typeface="Calibri"/>
              </a:rPr>
              <a:t> dentro da </a:t>
            </a:r>
            <a:r>
              <a:rPr sz="2400" b="1" i="0">
                <a:solidFill>
                  <a:srgbClr val="2B2B2B"/>
                </a:solidFill>
                <a:latin typeface="Courier New"/>
              </a:rPr>
              <a:t>&lt;ul&gt;</a:t>
            </a:r>
            <a:r>
              <a:rPr sz="2400" b="1" i="0">
                <a:solidFill>
                  <a:srgbClr val="2B2B2B"/>
                </a:solidFill>
                <a:latin typeface="Calibri"/>
              </a:rPr>
              <a:t>. O que aparece?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371600"/>
            <a:ext cx="621792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517904"/>
            <a:ext cx="5897879" cy="804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ul.addEventListener('click', (e) =&gt; {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  console.log(e.target.tagName)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'UL'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'LI'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'BODY'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Formulários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submit, validação e FormData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E2B16"/>
                </a:solidFill>
                <a:latin typeface="Courier New"/>
              </a:rPr>
              <a:t>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aria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formulário que recarrega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216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form.addEventListener(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'submit', () =&gt;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salvar()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})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a página recarrega!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79"/>
            <a:ext cx="35204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dados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somem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com o recarregamento.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216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form.addEventListener(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'submit', (e) =&gt;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e.preventDefault()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salvar()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})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840479"/>
            <a:ext cx="35204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preventDefault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segura o envio padrão.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FormData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lê o formulário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inteiro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de uma vez.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Cada campo precisa de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name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: é ele que vira a chave.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69720"/>
            <a:ext cx="4206240" cy="2164080"/>
          </a:xfrm>
          <a:prstGeom prst="roundRect">
            <a:avLst>
              <a:gd name="adj" fmla="val 253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16023"/>
            <a:ext cx="3886199" cy="1871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form.addEventListener(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'submit', (e)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e.preventDefault()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const dados = Object.fromEntries(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new FormData(form))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console.log(dados)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{ nome: 'Ana', ...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Validação: o HTML já ajuda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req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30759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36776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campo obrigatório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100" b="1" i="0">
                <a:solidFill>
                  <a:srgbClr val="1E2B16"/>
                </a:solidFill>
                <a:latin typeface="Courier New"/>
              </a:rPr>
              <a:t>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1912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type="email"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448306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formato de e-mail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930651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minlength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259835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tamanho mínimo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ok?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4218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checkValidity()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071365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JS confere tudo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1889759"/>
            <a:ext cx="3429000" cy="2118360"/>
          </a:xfrm>
          <a:prstGeom prst="roundRect">
            <a:avLst>
              <a:gd name="adj" fmla="val 258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036064"/>
            <a:ext cx="3108960" cy="1825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&lt;input id="email"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type="email"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required&gt;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email.validity.valid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false se vazio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email.validity.valueMissing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true se vazio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Validar no navegador é conforto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inscricao.ifpe.edu.br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E-mail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029967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029967"/>
            <a:ext cx="32918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C8191E"/>
                </a:solidFill>
                <a:latin typeface="Calibri"/>
              </a:rPr>
              <a:t>ana@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054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Informe um e-mail válido.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34639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3463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Enviar inscrição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80160"/>
            <a:ext cx="4023360" cy="1706879"/>
          </a:xfrm>
          <a:prstGeom prst="roundRect">
            <a:avLst>
              <a:gd name="adj" fmla="val 3214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463039"/>
            <a:ext cx="3566160" cy="13411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Validar no navegador é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conforto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, não segurança.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O servidor sempre valida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de novo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261360"/>
            <a:ext cx="4023360" cy="1264920"/>
          </a:xfrm>
          <a:prstGeom prst="roundRect">
            <a:avLst>
              <a:gd name="adj" fmla="val 433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407664"/>
            <a:ext cx="3703320" cy="9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if (!form.checkValidity())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form.reportValidity()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Sem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e.preventDefault()</a:t>
            </a:r>
            <a:r>
              <a:rPr sz="2800" b="1" i="0">
                <a:solidFill>
                  <a:srgbClr val="2B2B2B"/>
                </a:solidFill>
                <a:latin typeface="Calibri"/>
              </a:rPr>
              <a:t> no submit, o que acontece?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 de diferente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 página recarrega e os dados somem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 no console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 formulário não envia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Sem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e.preventDefault()</a:t>
            </a:r>
            <a:r>
              <a:rPr sz="2800" b="1" i="0">
                <a:solidFill>
                  <a:srgbClr val="2B2B2B"/>
                </a:solidFill>
                <a:latin typeface="Calibri"/>
              </a:rPr>
              <a:t> no submit, o que acontece?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 de diferente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alibri"/>
              </a:rPr>
              <a:t>A página recarrega e os dados somem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 no console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 formulário não envia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Acessibilidade dinâmica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Quando o JS muda a tela, o leitor de tela precisa saber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E2B16"/>
                </a:solidFill>
                <a:latin typeface="Courier New"/>
              </a:rPr>
              <a:t>aria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Um usuário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cego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 clica em "Adicionar". Como ele sabe que deu certo?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749039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Se a tela muda,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anuncie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: uma região viva lê as mudanças.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A região existe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vazia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desde o início; o JS só troca o 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4114800" cy="1737360"/>
          </a:xfrm>
          <a:prstGeom prst="roundRect">
            <a:avLst>
              <a:gd name="adj" fmla="val 315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794759" cy="14447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&lt;p id="status" role="status"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aria-live="polite"&gt;&lt;/p&gt;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status.textContent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'Coxinha adicionada.'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o leitor de tela anuncia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ARIA que o JS precisa manter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exp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307592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aria-expanded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636776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menu aberto ou fechado</a:t>
            </a:r>
          </a:p>
        </p:txBody>
      </p:sp>
      <p:sp>
        <p:nvSpPr>
          <p:cNvPr id="14" name="Oval 13"/>
          <p:cNvSpPr/>
          <p:nvPr/>
        </p:nvSpPr>
        <p:spPr>
          <a:xfrm>
            <a:off x="1280160" y="1234439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13741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3741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119122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aria-invalid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448306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campo com erro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48939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48939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300" b="1" i="0">
                <a:solidFill>
                  <a:srgbClr val="1E2B16"/>
                </a:solidFill>
                <a:latin typeface="Courier New"/>
              </a:rPr>
              <a:t>desc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930651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aria-describedby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59835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liga a mensagem ao campo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6047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6047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742182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role="alert"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071365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erro anunciado na hora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estado precisa ser verdade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219200"/>
          </a:xfrm>
          <a:prstGeom prst="roundRect">
            <a:avLst>
              <a:gd name="adj" fmla="val 4499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926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menu.hidden = false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aria-expanded continua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"false": o leitor diz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que está fechado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50919"/>
            <a:ext cx="3520439" cy="8381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ARIA desatualizado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mente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para o usuário.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aberto = !aberto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menu.hidden = !aberto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btn.setAttribute(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'aria-expanded',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String(aberto))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764279"/>
            <a:ext cx="3520439" cy="624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Mudou a tela, muda o ARIA.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Erro que o leitor de tela lê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inscricao.ifpe.edu.br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E-mail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029967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029967"/>
            <a:ext cx="32918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ana@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054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C8191E"/>
                </a:solidFill>
                <a:latin typeface="Calibri"/>
              </a:rPr>
              <a:t>Informe um e-mail válido.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34639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3463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Enviar inscrição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80160"/>
            <a:ext cx="4023360" cy="1493519"/>
          </a:xfrm>
          <a:prstGeom prst="roundRect">
            <a:avLst>
              <a:gd name="adj" fmla="val 367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463039"/>
            <a:ext cx="3566160" cy="11277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O leitor lê o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erro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junto com o campo.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E o foco vai ao primeiro erro.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047999"/>
            <a:ext cx="4023360" cy="1478280"/>
          </a:xfrm>
          <a:prstGeom prst="roundRect">
            <a:avLst>
              <a:gd name="adj" fmla="val 371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194304"/>
            <a:ext cx="3703320" cy="11856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campo.setAttribute(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'aria-invalid', 'true')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erro.textContent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'Informe um e-mail válido.'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campo.focus()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atributo faz uma mensagem ser anunciada assim que aparece?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aria-label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role="alert"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aria-hidden="true"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tabindex="0"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atributo faz uma mensagem ser anunciada assim que aparece?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aria-label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role="alert"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aria-hidden="true"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tabindex="0"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Prática guiada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Lista de tarefas acessível, do zero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aria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roteiro da prática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Formulário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label, input e button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4884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submit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sem recarregar e validando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4048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lista a partir do array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3212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Delegação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remover e concluir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Anunciar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contador falado e salvar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Lista de tarefas acessível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40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Adicionar pelo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submit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do formulário.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Remover com </a:t>
            </a:r>
            <a:r>
              <a:rPr sz="1900" b="1" i="0">
                <a:solidFill>
                  <a:srgbClr val="7C2BD0"/>
                </a:solidFill>
                <a:latin typeface="Calibri"/>
              </a:rPr>
              <a:t>delegação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data-id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Contador em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role="status"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Salvar no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localStorage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Teste só com o teclado: Tab, Enter, Espaço.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194560"/>
          </a:xfrm>
          <a:prstGeom prst="roundRect">
            <a:avLst>
              <a:gd name="adj" fmla="val 249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901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&lt;form id="form-tarefa"&gt;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&lt;label for="desc"&gt;Tarefa&lt;/label&gt;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&lt;input id="desc" name="desc"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     required&gt;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&lt;button&gt;Adicionar&lt;/button&gt;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&lt;/form&gt;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&lt;p id="contador" role="status"&gt;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0 tarefas&lt;/p&gt;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&lt;ul id="lista"&gt;&lt;/ul&gt;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Busca instantânea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Campo de busca e lista de 15 cursos.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 evento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input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filtra a cada tecla.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Ignore maiúsculas e acentos.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Sem resultado? Avise em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role="status"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botão Limpar que devolve o foco.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semAcento = (t) =&gt; t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.normalize('NFD')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.replace(/\p{Diacritic}/gu, '')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.toLowerCase()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semAcento('Informática')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'informatica'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Menu acessível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Botão "Cursos" abre e fecha o menu.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Atualize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aria-expanded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a cada clique.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1" i="0">
                <a:solidFill>
                  <a:srgbClr val="7C2BD0"/>
                </a:solidFill>
                <a:latin typeface="Calibri"/>
              </a:rPr>
              <a:t>Esc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fecha e devolve o foco ao botão.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Teste com teclado e leitor de tela.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Entrega: os três desafios no Classroom.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&lt;button aria-expanded="false"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aria-controls="menu"&gt;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Cursos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&lt;/button&gt;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&lt;ul id="menu" hidden&gt;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&lt;li&gt;&lt;a href="#"&gt;ADS&lt;/a&gt;&lt;/li&gt;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&lt;/ul&gt;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Leve para casa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Eventos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ligam uma função a uma ação do usuário.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Delegação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: um listener no pai serve a todos.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alibri"/>
              </a:rPr>
              <a:t>Mudou a tela?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Anuncie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e mantenha o ARIA verdadeiro.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95913"/>
            <a:ext cx="2377440" cy="951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315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próxima_aula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Assíncrono: fetch e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99CB38"/>
                </a:solidFill>
                <a:latin typeface="Calibri"/>
              </a:rPr>
              <a:t>11/11 · live coding e desafio em duplas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3C0"/>
                </a:solidFill>
                <a:latin typeface="Calibri"/>
              </a:rPr>
              <a:t>O CEP de Palmares vai sair do ViaCEP de verdade</a:t>
            </a:r>
          </a:p>
          <a:p>
            <a:pPr algn="l"/>
            <a:r>
              <a:rPr sz="1500" b="0" i="0">
                <a:solidFill>
                  <a:srgbClr val="C9D3C0"/>
                </a:solidFill>
                <a:latin typeface="Calibri"/>
              </a:rPr>
              <a:t>Termine os desafios no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Prof. Thiago Araújo · IFPE Campus Palmares · ADS 3º período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