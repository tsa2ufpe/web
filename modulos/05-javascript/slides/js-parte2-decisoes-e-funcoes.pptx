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Segunda aula do bloco de JavaScript. Plano de ensino: condicionais, laços de repetição, funções e arrow functions; escopo.</a:t>
            </a:r>
          </a:p>
          <a:p>
            <a:r>
              <a:t>Estratégia do dia: live coding na primeira metade e resolução de problemas em duplas na segunda. Pedir que já sentem em duplas.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cinco primeiros blocos são conteúdo com live coding; o sexto é a prática em duplas, com entrega no Classroom.</a:t>
            </a:r>
          </a:p>
          <a:p>
            <a:r>
              <a:t>Hoje o código começa a tomar decisões e a se organizar em funções: é aqui que JavaScript vira programação de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Retomada da aula passada (coerção de tipos). Voto com os dedos, 1 a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O + com texto junta ('73'); o - só faz conta e converte o texto para número (4).</a:t>
            </a:r>
          </a:p>
          <a:p>
            <a:r>
              <a:t>Aproveitar para relembrar: sempre === e sempre converter o que vem de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Deixar a turma responder. Alguém vai dizer: "verifica se tem saldo".</a:t>
            </a:r>
          </a:p>
          <a:p>
            <a:r>
              <a:t>Exato: SE o saldo for maior ou igual ao valor, envia; SENÃO, avisa. Programar é, em grande parte, escrever essas decisões.</a:t>
            </a:r>
          </a:p>
          <a:p>
            <a:r>
              <a:t>Outros exemplos: o app de delivery que só libera o pedido acima do valor mínimo, o site que pede CPF só para maiores de 18, o jogo que dá game over quando a vida chega a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Primeiro bloco. Live coding em arquivo app.js ligado ao index.html (o mesmo esquema da aula passada).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Estrutura: if (condição) { bloco se verdadeiro } else { bloco se falso }. O else é opcional.</a:t>
            </a:r>
          </a:p>
          <a:p>
            <a:r>
              <a:t>A condição é qualquer expressão: o JS converte o resultado para boolean. Por isso os valores falsy da aula passada importam: if (nome) é falso quando nome é string vazia.</a:t>
            </a:r>
          </a:p>
          <a:p>
            <a:r>
              <a:t>Live coding: trocar saldo para 100 e rodar de novo. Pedir que a turma preveja a saída antes.</a:t>
            </a:r>
          </a:p>
          <a:p>
            <a:r>
              <a:t>Boa prática: sempre usar chaves, mesmo com uma linha só.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Ligar com o mundo real: a regra de negócio de qualquer sistema é, no fundo, um conjunto de condições.</a:t>
            </a:r>
          </a:p>
          <a:p>
            <a:r>
              <a:t>Pedir para a turma listar outras decisões de apps que usam: limite do cartão, frete grátis acima de um valor, idade mínima para cadastro.</a:t>
            </a:r>
          </a:p>
          <a:p>
            <a:r>
              <a:t>As funções pagar() e avisarSemSaldo() são ilustrativas: funções são o bloco 3 de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JS testa de cima para baixo e executa só o primeiro bloco verdadeiro; o resto é ignorado.</a:t>
            </a:r>
          </a:p>
          <a:p>
            <a:r>
              <a:t>Por isso a ordem importa: testar do maior para o menor. Pergunta para a turma: o que acontece se eu testar nota &gt;= 6 primeiro? (Todo mundo com 9 ganharia C.)</a:t>
            </a:r>
          </a:p>
          <a:p>
            <a:r>
              <a:t>Live coding: pedir uma nota para a turma e seguir o caminho em voz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Operador ternário: condição ? valorSeVerdadeiro : valorSeFalso.</a:t>
            </a:r>
          </a:p>
          <a:p>
            <a:r>
              <a:t>Use quando a decisão só escolhe entre dois valores. Para lógica com várias linhas, continue com if/else.</a:t>
            </a:r>
          </a:p>
          <a:p>
            <a:r>
              <a:t>Evitar ternário dentro de ternário: fica ilegível.</a:t>
            </a:r>
          </a:p>
          <a:p>
            <a:r>
              <a:t>Muito usado em template literals: `Você tem ${qtd} ${qtd === 1 ? 'item' : 'itens'}`.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é uma alternativa ao else if quando todas as comparações são com o mesmo valor. Pensem no menu do caixa eletrônico ou da central telefônica: digite 1 para saldo, 2 para extrato.</a:t>
            </a:r>
          </a:p>
          <a:p>
            <a:r>
              <a:t>O switch compara com === (valor e tipo). case '1' não casa com o número 1.</a:t>
            </a:r>
          </a:p>
          <a:p>
            <a:r>
              <a:t>Sem break, a execução "cai" no caso seguinte (fall-through). Mostrar ao vivo tirando um break.</a:t>
            </a:r>
          </a:p>
          <a:p>
            <a:r>
              <a:t>default é o else do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Respiro. Serve de gancho para falar de testes: na vida real, a gente mexe sim, mas com testes e versionamento (Git, na aula de 25/11) para poder voltar atrás.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Voto com os dedos.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'fica'. 17 &gt;= 18 é false, então o ternário devolve o valor depois dos dois-pontos.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Segundo bloco. Pergunta de abertura: como vocês mostrariam os números de 1 a 1000 no console? Ninguém vai querer escrever mil console.log.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Laço (loop) é a segunda estrutura de controle do dia. Com if o código escolhe; com laços ele repete.</a:t>
            </a:r>
          </a:p>
          <a:p>
            <a:r>
              <a:t>Exemplos reais: enviar a mesma notificação para todos os alunos da turma, somar os itens de um carrinho, tentar a senha até 3 vezes.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Ler o for em voz alta: "começando com i valendo 0; enquanto i for menor que 5; somando 1 a cada volta".</a:t>
            </a:r>
          </a:p>
          <a:p>
            <a:r>
              <a:t>Simular no quadro a tabela de valores de i: 0, 1, 2, 3, 4 e, quando i chega a 5, a condição falha e o laço termina.</a:t>
            </a:r>
          </a:p>
          <a:p>
            <a:r>
              <a:t>i é convenção para "índice". Começar em 0 é o padrão porque listas em JS começam na posição 0 (veremos em 14/10).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for: número de repetições conhecido (de 1 a 10, 5 tentativas).</a:t>
            </a:r>
          </a:p>
          <a:p>
            <a:r>
              <a:t>while: não sei quantas vezes; repito enquanto algo for verdade (enquanto a senha estiver errada, enquanto houver saldo).</a:t>
            </a:r>
          </a:p>
          <a:p>
            <a:r>
              <a:t>for...of: percorrer os itens de uma lista, sem me preocupar com índice. É o mais legível para listas.</a:t>
            </a:r>
          </a:p>
          <a:p>
            <a:r>
              <a:t>break sai do laço; continue pula para a próxima volta.</a:t>
            </a:r>
          </a:p>
          <a:p>
            <a:r>
              <a:t>Existe ainda o do...while, que executa pelo menos uma vez; é raro no dia a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Primeiro contato com listas (arrays), que são o tema da aula de 14/10. Aqui basta saber que [18, 4.5, 6] guarda vários valores em ordem.</a:t>
            </a:r>
          </a:p>
          <a:p>
            <a:r>
              <a:t>Padrão acumulador: uma variável let começa em 0 e recebe += a cada volta. Aparece em todo lugar: total de carrinho, soma de notas, contagem de aprovados.</a:t>
            </a:r>
          </a:p>
          <a:p>
            <a:r>
              <a:t>Live coding: adicionar um quarto preço e ver o total mudar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Laço infinito: a condição nunca fica falsa, e a aba do navegador trava.</a:t>
            </a:r>
          </a:p>
          <a:p>
            <a:r>
              <a:t>Se acontecer: fechar a aba (ou o Gerenciador de tarefas do navegador, Shift+Esc no Chrome) e corrigir o código.</a:t>
            </a:r>
          </a:p>
          <a:p>
            <a:r>
              <a:t>Checklist de todo laço: onde começa? Qual a condição de parada? O que muda a cada volta?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Voto com os dedos. Pedir para fazerem a tabela de i no caderno.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i vale 1, 2 e 3 (o &lt;= inclui o 3); cada volta imprime o dobro: 2, 4,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Terceiro bloco e o mais importante do dia. Funções são o jeito de organizar o código em partes reutilizáveis.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Analogia da receita: os parâmetros são os ingredientes, o corpo é o modo de preparo e o return é o prato pronto.</a:t>
            </a:r>
          </a:p>
          <a:p>
            <a:r>
              <a:t>Você já usa funções desde a aula passada: console.log(), Number(), toUpperCase(). Hoje vamos criar as nossas.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Nome de função: verbo no infinitivo ou que descreva a ação (calcularMedia, formatarPreco, validarCpf).</a:t>
            </a:r>
          </a:p>
          <a:p>
            <a:r>
              <a:t>Parâmetros são variáveis que só existem dentro da função. Argumentos são os valores reais passados na chamada (7 e 9).</a:t>
            </a:r>
          </a:p>
          <a:p>
            <a:r>
              <a:t>return encerra a função e devolve o valor. O que vem depois do return não é executado.</a:t>
            </a:r>
          </a:p>
          <a:p>
            <a:r>
              <a:t>Declarar a função não executa nada. Ela só roda quando é chamada, com os parênteses.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DRY: Don't Repeat Yourself, um princípio clássico da engenharia de software.</a:t>
            </a:r>
          </a:p>
          <a:p>
            <a:r>
              <a:t>Cenário: a coordenação decide que a média passa a ter pesos diferentes. Com o código copiado, você precisa achar e trocar em todos os lugares (e sempre esquece um). Com a função, troca em um lugar.</a:t>
            </a:r>
          </a:p>
          <a:p>
            <a:r>
              <a:t>Sinal de alerta: se você copiou e colou um trecho pela terceira vez, ele quer virar função.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Parâmetro padrão (default parameter, ES6): se o argumento não for passado, ou for undefined, usa o valor definido.</a:t>
            </a:r>
          </a:p>
          <a:p>
            <a:r>
              <a:t>Live coding: chamar comDesconto(30), comDesconto(30, 50) e comDesconto(30, 0). Perguntar: o 0 funciona? (Sim: o padrão só entra com undefined, parecido com o ?? da aula passada.)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 número 1 de quem está aprendendo funções. console.log só mostra no console; o valor não sai da função.</a:t>
            </a:r>
          </a:p>
          <a:p>
            <a:r>
              <a:t>Toda função sem return devolve undefined.</a:t>
            </a:r>
          </a:p>
          <a:p>
            <a:r>
              <a:t>Teste rápido: se você precisa usar o resultado depois (guardar numa variável, somar, mostrar na página), a função precisa de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Quarto bloco. Arrow functions chegaram no ES6 (2015) e hoje são a forma mais comum de escrever funções pequenas.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coding: transformar a função clássica em arrow, passo a passo, na frente da turma.</a:t>
            </a:r>
          </a:p>
          <a:p>
            <a:r>
              <a:t>1) Tira a palavra function, guarda a função numa const e coloca a seta =&gt; depois dos parâmetros.</a:t>
            </a:r>
          </a:p>
          <a:p>
            <a:r>
              <a:t>2) Se o corpo é só um return, tira as chaves e o return: o retorno fica implícito.</a:t>
            </a:r>
          </a:p>
          <a:p>
            <a:r>
              <a:t>3) Com um único parâmetro, os parênteses são opcionais (muitos times preferem manter sempre).</a:t>
            </a:r>
          </a:p>
          <a:p>
            <a:r>
              <a:t>Obs.: no console, declarar const dobro três vezes dá erro; testar cada forma com um nome diferente.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Exemplos para o quadro: const ola = () =&gt; 'oi'; const soma = (a, b) =&gt; a + b; const criar = nome =&gt; ({ nome, ativo: true }).</a:t>
            </a:r>
          </a:p>
          <a:p>
            <a:r>
              <a:t>Por que parênteses no objeto: sem eles, o JS acha que as chaves são o bloco da função.</a:t>
            </a:r>
          </a:p>
          <a:p>
            <a:r>
              <a:t>Diferença mais profunda (fica para depois): arrow functions não têm this próprio. Isso importa com classes e eventos; veremos na hora certa.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função pode ser passada como argumento para outra função: é o chamado callback.</a:t>
            </a:r>
          </a:p>
          <a:p>
            <a:r>
              <a:t>addEventListener: "quando clicar, execute esta função". setTimeout: "daqui a 1 segundo, execute esta". map: "para cada item, execute esta".</a:t>
            </a:r>
          </a:p>
          <a:p>
            <a:r>
              <a:t>Não precisa entender cada linha agora; o objetivo é reconhecer o formato () =&gt; quando aparecer.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Checkpoint que junta arrow function com a coerção da aula passada.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'23'. A arrow devolve a + b, e com uma string no meio o + concatena.</a:t>
            </a:r>
          </a:p>
          <a:p>
            <a:r>
              <a:t>Gancho: é exatamente o tipo de erro que o TypeScript pega antes de rodar.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Quinto bloco. Escopo explica muitos erros "misteriosos" do tipo ReferenceError.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Escopo é a região do código onde uma variável existe.</a:t>
            </a:r>
          </a:p>
          <a:p>
            <a:r>
              <a:t>Escopo global: declarada fora de tudo, visível em todo lugar (cidade).</a:t>
            </a:r>
          </a:p>
          <a:p>
            <a:r>
              <a:t>Escopo de função e de bloco: declarada dentro de { }, só existe ali dentro (quarto).</a:t>
            </a:r>
          </a:p>
          <a:p>
            <a:r>
              <a:t>De dentro, o código enxerga para fora (sobe a cadeia de escopos); de fora, não enxerga para dentro.</a:t>
            </a:r>
          </a:p>
          <a:p>
            <a:r>
              <a:t>Boa prática: declarar cada variável no menor escopo possível. Menos global, menos surpresa.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Promessa da aula passada: por que var é legado.</a:t>
            </a:r>
          </a:p>
          <a:p>
            <a:r>
              <a:t>var só respeita o escopo de função; blocos de if e for não o seguram. Isso causa bugs como variáveis de um laço vazando para o resto do código.</a:t>
            </a:r>
          </a:p>
          <a:p>
            <a:r>
              <a:t>let e const (ES6) respeitam qualquer bloco { }. O ReferenceError do lado direito é o comportamento desejado: a variável não deveria existir ali fora.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Aprofundamento para quem quer ir além (costuma cair em entrevista de estágio).</a:t>
            </a:r>
          </a:p>
          <a:p>
            <a:r>
              <a:t>criarContador termina, mas a arrow que ela devolveu continua enxergando total. Cada chamada de criarContador cria uma "mochila" nova e independente.</a:t>
            </a:r>
          </a:p>
          <a:p>
            <a:r>
              <a:t>É a base de estado privado e de muitos padrões que vocês verão em frameworks (os hooks do React, por exemplo).</a:t>
            </a:r>
          </a:p>
          <a:p>
            <a:r>
              <a:t>Não é obrigatório dominar hoje; está na prática 01 do módulo (praticas/01-escopo-closures.js).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Último checkpoint antes da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A. 1. O let x = 2 cria outra variável, que só existe dentro do bloco do if. Fora dele, vale o x de fora.</a:t>
            </a:r>
          </a:p>
          <a:p>
            <a:r>
              <a:t>Se fosse var x = 2, o resultado seria 2, porque var "vaza" e sobrescreve.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Segunda metade da aula. Formar as duplas (de preferência misturando quem tem mais e menos experiência).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programming é prática real de empresas (vem do Extreme Programming, anos 1990) e é usada em entrevistas técnicas.</a:t>
            </a:r>
          </a:p>
          <a:p>
            <a:r>
              <a:t>Piloto: está no teclado e narra o que faz. Navegador: não digita; lê, aponta erro, pensa no caso de teste seguinte.</a:t>
            </a:r>
          </a:p>
          <a:p>
            <a:r>
              <a:t>Cronometrar as trocas a cada 10 minutos. Eu circulo pela sala.</a:t>
            </a:r>
          </a:p>
          <a:p>
            <a:r>
              <a:t>Uso de IA: hoje não. O objetivo é treinar o raciocínio; na aula de 25/11 vamos discutir o uso crítico de assistentes de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Solução esperada: return n % 2 === 0 ? 'par' : 'ímpar'.</a:t>
            </a:r>
          </a:p>
          <a:p>
            <a:r>
              <a:t>Pegadinha interessante: quem testar n % 2 === 1 para ímpar vai errar com negativos, porque -3 % 2 dá -1 em JavaScript. Deixar descobrirem testando com -3.</a:t>
            </a:r>
          </a:p>
          <a:p>
            <a:r>
              <a:t>Bônus: combinar com if/else if/else para positivo, negativo e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Solução esperada: for (let i = 1; i &lt;= 10; i++) { console.log(`${n} x ${i} = ${n * i}`) }.</a:t>
            </a:r>
          </a:p>
          <a:p>
            <a:r>
              <a:t>Erro comum: i &lt; 10, que para no 9. Bom momento para relembrar o checkpoint do for.</a:t>
            </a:r>
          </a:p>
          <a:p>
            <a:r>
              <a:t>Bônus: const tabuada = (n, ate = 10) =&gt; { ... 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Desafio mais difícil, junta tudo: função, if, laço e acumulador.</a:t>
            </a:r>
          </a:p>
          <a:p>
            <a:r>
              <a:t>Caminho sugerido: primeiro validar (valor % 10 !== 0 ou valor &lt;= 0 → inválido). Depois, para cada nota (for...of), usar while (valor &gt;= nota) para contar quantas cabem e subtrair.</a:t>
            </a:r>
          </a:p>
          <a:p>
            <a:r>
              <a:t>Alternativa sem laço interno: Math.floor(valor / nota) e valor % nota.</a:t>
            </a:r>
          </a:p>
          <a:p>
            <a:r>
              <a:t>Quem não quiser usar a lista pode repetir o mesmo bloco para 100, 50, 20 e 10; depois mostrar como o laço elimina essa repetição (DRY).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Fechamento: cada dupla diz em uma frase qual foi a parte mais difícil do desafio do caixa eletrônico.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Próxima aula (14/10): arrays e métodos funcionais (map, filter, reduce, find), desestruturação e spread/rest.</a:t>
            </a:r>
          </a:p>
          <a:p>
            <a:r>
              <a:t>A estratégia será sala de aula invertida: vocês leem o material antes (vou postar no Classroom a página da MDN sobre Array e um roteiro curto) e a aula fica para exercícios.</a:t>
            </a:r>
          </a:p>
          <a:p>
            <a:r>
              <a:t>Quem não ler vai sentir falta: combinado?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4960" y="0"/>
            <a:ext cx="3749039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pe-logo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986104"/>
            <a:ext cx="2926080" cy="1171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99CB38"/>
                </a:solidFill>
                <a:latin typeface="Courier New"/>
              </a:rPr>
              <a:t>&gt; aula_07.10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ourier New"/>
              </a:rPr>
              <a:t>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 i="0">
                <a:solidFill>
                  <a:srgbClr val="99CB38"/>
                </a:solidFill>
                <a:latin typeface="Calibri"/>
              </a:rPr>
              <a:t>Parte 2 · decisões e funções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C9D3C0"/>
                </a:solidFill>
                <a:latin typeface="Calibri"/>
              </a:rPr>
              <a:t>Desenvolvimento de Sistemas Web · 07/10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Prof. Thiago Araújo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C9D3C0"/>
                </a:solidFill>
                <a:latin typeface="Calibri"/>
              </a:rPr>
              <a:t>IFPE Campus Palmares · ADS 3º período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mapa_da_aula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Mapa da aula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5544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Decisões: if e else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6136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4240" y="1508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4424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4240" y="18288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8640" y="15544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Repetições: laços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552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8400" y="1508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40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8400" y="18288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fn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2800" y="15544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Funções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108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429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=&gt;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31546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Arrow functions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6136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44240" y="3108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4424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44240" y="3429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{ 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8640" y="31546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Escopo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6552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8400" y="3108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840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8400" y="3429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2x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2800" y="31546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Problemas em duplas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Aquecimento: quais são os resultados?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371600"/>
            <a:ext cx="2743200" cy="975360"/>
          </a:xfrm>
          <a:prstGeom prst="roundRect">
            <a:avLst>
              <a:gd name="adj" fmla="val 562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517904"/>
            <a:ext cx="2423160" cy="68275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2000" b="1">
                <a:solidFill>
                  <a:srgbClr val="FFFFFF"/>
                </a:solidFill>
                <a:latin typeface="Courier New"/>
              </a:rPr>
              <a:t>'7' + 3</a:t>
            </a:r>
          </a:p>
          <a:p>
            <a:r>
              <a:rPr sz="2000" b="1">
                <a:solidFill>
                  <a:srgbClr val="FFFFFF"/>
                </a:solidFill>
                <a:latin typeface="Courier New"/>
              </a:rPr>
              <a:t>'7' - 3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10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'73'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'73'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'4'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10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'4'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Aquecimento: quais são os resultados?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371600"/>
            <a:ext cx="2743200" cy="975360"/>
          </a:xfrm>
          <a:prstGeom prst="roundRect">
            <a:avLst>
              <a:gd name="adj" fmla="val 562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517904"/>
            <a:ext cx="2423160" cy="68275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2000" b="1">
                <a:solidFill>
                  <a:srgbClr val="FFFFFF"/>
                </a:solidFill>
                <a:latin typeface="Courier New"/>
              </a:rPr>
              <a:t>'7' + 3</a:t>
            </a:r>
          </a:p>
          <a:p>
            <a:r>
              <a:rPr sz="2000" b="1">
                <a:solidFill>
                  <a:srgbClr val="FFFFFF"/>
                </a:solidFill>
                <a:latin typeface="Courier New"/>
              </a:rPr>
              <a:t>'7' - 3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10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'73'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 e </a:t>
            </a:r>
            <a:r>
              <a:rPr sz="1900" b="1" i="0">
                <a:solidFill>
                  <a:srgbClr val="1E2B16"/>
                </a:solidFill>
                <a:latin typeface="Courier New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'73'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'4'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10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'4'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38074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pergunta?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18872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600" b="1" i="0">
                <a:solidFill>
                  <a:srgbClr val="2B2B2B"/>
                </a:solidFill>
                <a:latin typeface="Calibri"/>
              </a:rPr>
              <a:t>Como o app do banco decide se o seu Pix </a:t>
            </a:r>
            <a:r>
              <a:rPr sz="3600" b="1" i="0">
                <a:solidFill>
                  <a:srgbClr val="7C2BD0"/>
                </a:solidFill>
                <a:latin typeface="Calibri"/>
              </a:rPr>
              <a:t>passa</a:t>
            </a:r>
            <a:r>
              <a:rPr sz="3600" b="1" i="0">
                <a:solidFill>
                  <a:srgbClr val="2B2B2B"/>
                </a:solidFill>
                <a:latin typeface="Calibri"/>
              </a:rPr>
              <a:t>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Decisões: if e 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O código escolhe um caminho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fn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=&gt;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{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931920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ourier New"/>
              </a:rPr>
              <a:t>if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executa um bloco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só se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a condição for verdadeira.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A condição vira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true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 ou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false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. Lembra dos falsy?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508760"/>
            <a:ext cx="3931920" cy="2286000"/>
          </a:xfrm>
          <a:prstGeom prst="roundRect">
            <a:avLst>
              <a:gd name="adj" fmla="val 24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655064"/>
            <a:ext cx="3611879" cy="19933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saldo = 50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valor = 80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if (saldo &gt;= valor)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console.log('Pix enviado!')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 else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console.log('Sem saldo')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Todo app decide com 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Banco · Pix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67766C"/>
                </a:solidFill>
                <a:latin typeface="Calibri"/>
              </a:rPr>
              <a:t>Saldo disponível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0574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4E6730"/>
                </a:solidFill>
                <a:latin typeface="Calibri"/>
              </a:rPr>
              <a:t>R$ 50,00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53288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Valor do Pix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779776"/>
            <a:ext cx="3474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77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779776"/>
            <a:ext cx="329183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R$ 80,00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255264"/>
            <a:ext cx="137160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255264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alibri"/>
              </a:rPr>
              <a:t>Enviar Pix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730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7C2BD0"/>
                </a:solidFill>
                <a:latin typeface="Calibri"/>
              </a:rPr>
              <a:t>Saldo insuficiente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1280160"/>
            <a:ext cx="4023360" cy="2133599"/>
          </a:xfrm>
          <a:prstGeom prst="roundRect">
            <a:avLst>
              <a:gd name="adj" fmla="val 2571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1463039"/>
            <a:ext cx="3566160" cy="176783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Todo app toma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decisões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com base em dados.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Saldo, idade, estoque, senha: tudo passa por um </a:t>
            </a:r>
            <a:r>
              <a:rPr sz="1900" b="1" i="0">
                <a:solidFill>
                  <a:srgbClr val="1E2B16"/>
                </a:solidFill>
                <a:latin typeface="Courier New"/>
              </a:rPr>
              <a:t>if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3688080"/>
            <a:ext cx="4023360" cy="838200"/>
          </a:xfrm>
          <a:prstGeom prst="roundRect">
            <a:avLst>
              <a:gd name="adj" fmla="val 654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3834384"/>
            <a:ext cx="3703320" cy="545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if (saldo &gt;= valor) pagar()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else avisarSemSaldo()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Várias saídas: else 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627632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Testa a primeira condição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956816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se for true, executa e para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1460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1460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ourier New"/>
              </a:rPr>
              <a:t>else 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496312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Testa a próxima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25496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só se a anterior falhou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8328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else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364992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O que sobrou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694176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nenhuma condição foi true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57800" y="1783080"/>
            <a:ext cx="3429000" cy="2331720"/>
          </a:xfrm>
          <a:prstGeom prst="roundRect">
            <a:avLst>
              <a:gd name="adj" fmla="val 2352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1929384"/>
            <a:ext cx="3108960" cy="20391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if (nota &gt;= 9)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conceito = 'A'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 else if (nota &gt;= 7)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conceito = 'B'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 else if (nota &gt;= 6)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conceito = 'C'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 else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conceito = 'D'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Ternário: if que devolve valor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39"/>
            <a:ext cx="3611879" cy="1737360"/>
          </a:xfrm>
          <a:prstGeom prst="roundRect">
            <a:avLst>
              <a:gd name="adj" fmla="val 3157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295144"/>
            <a:ext cx="3291839" cy="14447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let status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if (media &gt;= 6)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status = 'aprovado'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 else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status = 'reprovado'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69079"/>
            <a:ext cx="352043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Seis linhas e um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let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148839"/>
            <a:ext cx="3611879" cy="1051560"/>
          </a:xfrm>
          <a:prstGeom prst="roundRect">
            <a:avLst>
              <a:gd name="adj" fmla="val 521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295144"/>
            <a:ext cx="3291839" cy="7589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status = media &gt;= 6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? 'aprovado'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: 'reprovado'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3383279"/>
            <a:ext cx="3520439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Uma expressão, direto num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const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4023359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ourier New"/>
              </a:rPr>
              <a:t>switch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compara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um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valor com vários casos.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4023359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Esqueceu o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break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? Ele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continua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 no próximo caso.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280160"/>
            <a:ext cx="3840480" cy="2743200"/>
          </a:xfrm>
          <a:prstGeom prst="roundRect">
            <a:avLst>
              <a:gd name="adj" fmla="val 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426464"/>
            <a:ext cx="3520440" cy="24505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switch (opcao)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case '1':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console.log('Saldo')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break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case '2':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console.log('Extrato')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break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default: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console.log('Inválida')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02920"/>
            <a:ext cx="7498079" cy="3383280"/>
          </a:xfrm>
          <a:prstGeom prst="rect">
            <a:avLst/>
          </a:prstGeom>
          <a:solidFill>
            <a:srgbClr val="FFFFFF"/>
          </a:solidFill>
          <a:ln w="2222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685800"/>
            <a:ext cx="4754880" cy="2194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Courier New"/>
              </a:rPr>
              <a:t>if (codigoFunciona) {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Courier New"/>
              </a:rPr>
              <a:t>  naoMexa()</a:t>
            </a:r>
          </a:p>
          <a:p>
            <a:pPr algn="l"/>
            <a:r>
              <a:rPr sz="2800" b="1" i="0">
                <a:solidFill>
                  <a:srgbClr val="2B2B2B"/>
                </a:solidFill>
                <a:latin typeface="Courier New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0" i="1">
                <a:solidFill>
                  <a:srgbClr val="67766C"/>
                </a:solidFill>
                <a:latin typeface="Calibri"/>
              </a:rPr>
              <a:t>A regra número 1 de todo programador.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0" i="0">
                <a:solidFill>
                  <a:srgbClr val="67766C"/>
                </a:solidFill>
                <a:latin typeface="Calibri"/>
              </a:rPr>
              <a:t>Sabedoria popular da área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o console mostra?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6217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const idade = 17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idade &gt;= 18 ? 'entra' : 'fica'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'entra'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'fica'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true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o console mostra?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6217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const idade = 17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idade &gt;= 18 ? 'entra' : 'fica'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'entra'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'fica'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true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Repetições: laços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Fazer de novo sem copiar e colar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fn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=&gt;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{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2x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4572000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Laço repete um bloco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enquanto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a condição for verdadeira.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O computador não cansa: 10 ou 10 mil vezes.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097280"/>
            <a:ext cx="2651760" cy="2651760"/>
          </a:xfrm>
          <a:prstGeom prst="roundRect">
            <a:avLst>
              <a:gd name="adj" fmla="val 2068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097280"/>
            <a:ext cx="2651760" cy="2651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400" b="1" i="0">
                <a:solidFill>
                  <a:srgbClr val="1E2B16"/>
                </a:solidFill>
                <a:latin typeface="Courier New"/>
              </a:rPr>
              <a:t>for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Anatomia do for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1655064"/>
            <a:ext cx="140131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2"/>
            <a:ext cx="188595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Início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188595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let i = 0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roda uma vez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11830" y="1655064"/>
            <a:ext cx="140131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7175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7175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0" y="2084832"/>
            <a:ext cx="188595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Condição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1750" y="2423160"/>
            <a:ext cx="188595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i &lt; 5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? Se false, sai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26380" y="1655064"/>
            <a:ext cx="140131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68630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630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6300" y="2084832"/>
            <a:ext cx="188595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Corpo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6300" y="2423160"/>
            <a:ext cx="188595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executa o bloco { 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0085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0085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0850" y="2084832"/>
            <a:ext cx="188595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Passo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0850" y="2423160"/>
            <a:ext cx="188595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i++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e volta ao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5454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12463"/>
            <a:ext cx="7909560" cy="7132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for (let i = 0; i &lt; 5; i++)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console.log(`Volta ${i}`)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Volta 0, Volta 1 ... Volta 4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Qual laço usar?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74879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4879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71221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059686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sabe quantas vezes vai repetir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32588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59" y="174879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174879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ourier New"/>
              </a:rPr>
              <a:t>while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712214"/>
            <a:ext cx="256031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while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059686"/>
            <a:ext cx="2560319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repete enquanto a condição valer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8610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50901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0901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47243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for...of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819906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visita cada item de uma lista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08610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37759" y="350901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59" y="350901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brk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472434"/>
            <a:ext cx="256031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break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3819906"/>
            <a:ext cx="2560319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sai do laço antes da hora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Somando o carrinho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loja.com/carrinho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Açaí 500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783080"/>
            <a:ext cx="15636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R$ 18,00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130552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Coxinha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6896" y="2130552"/>
            <a:ext cx="15636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R$ 4,50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478024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Suco de caju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6896" y="2478024"/>
            <a:ext cx="15636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R$ 6,00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2871215"/>
            <a:ext cx="3474720" cy="0"/>
          </a:xfrm>
          <a:prstGeom prst="line">
            <a:avLst/>
          </a:prstGeom>
          <a:ln w="12700">
            <a:solidFill>
              <a:srgbClr val="C5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2962656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6896" y="2962656"/>
            <a:ext cx="15636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800" b="1" i="0">
                <a:solidFill>
                  <a:srgbClr val="2B2B2B"/>
                </a:solidFill>
                <a:latin typeface="Calibri"/>
              </a:rPr>
              <a:t>R$ 28,50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1280160"/>
            <a:ext cx="4023360" cy="1280160"/>
          </a:xfrm>
          <a:prstGeom prst="roundRect">
            <a:avLst>
              <a:gd name="adj" fmla="val 4285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1463039"/>
            <a:ext cx="3566160" cy="9143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E2B16"/>
                </a:solidFill>
                <a:latin typeface="Courier New"/>
              </a:rPr>
              <a:t>for...of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visita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cada item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, um por vez.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O </a:t>
            </a:r>
            <a:r>
              <a:rPr sz="1900" b="1" i="0">
                <a:solidFill>
                  <a:srgbClr val="1E2B16"/>
                </a:solidFill>
                <a:latin typeface="Courier New"/>
              </a:rPr>
              <a:t>let total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acumula a soma.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2834639"/>
            <a:ext cx="4023360" cy="1691639"/>
          </a:xfrm>
          <a:prstGeom prst="roundRect">
            <a:avLst>
              <a:gd name="adj" fmla="val 3243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2980944"/>
            <a:ext cx="3703320" cy="13990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precos = [18, 4.5, 6]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let total = 0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for (const p of precos)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total += p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total: 28.5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 laço que nunca acaba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508760"/>
          </a:xfrm>
          <a:prstGeom prst="roundRect">
            <a:avLst>
              <a:gd name="adj" fmla="val 3636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1216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let i = 0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while (i &lt; 3)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console.log(i)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500" b="1">
                <a:solidFill>
                  <a:srgbClr val="C9D3C0"/>
                </a:solidFill>
                <a:latin typeface="Courier New"/>
              </a:rPr>
              <a:t>// trava a aba!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40479"/>
            <a:ext cx="3520439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Esqueceu de mudar o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i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508760"/>
          </a:xfrm>
          <a:prstGeom prst="roundRect">
            <a:avLst>
              <a:gd name="adj" fmla="val 363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1216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let i = 0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while (i &lt; 3)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console.log(i)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i++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840479"/>
            <a:ext cx="3520439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Todo laço precisa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caminhar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até o fim.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1188719"/>
          </a:xfrm>
          <a:prstGeom prst="roundRect">
            <a:avLst>
              <a:gd name="adj" fmla="val 461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8961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for (let i = 1; i &lt;= 3; i++) {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  console.log(i * 2)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1 2 3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2 4 6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2 4 6 8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0 2 4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1188719"/>
          </a:xfrm>
          <a:prstGeom prst="roundRect">
            <a:avLst>
              <a:gd name="adj" fmla="val 461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8961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for (let i = 1; i &lt;= 3; i++) {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  console.log(i * 2)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1 2 3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2 4 6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2 4 6 8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0 2 4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Funções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Dar nome a um pedaço de lógica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fn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=&gt;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{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2x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4572000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Função é uma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receita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: recebe ingredientes e devolve um prato.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Escreva uma vez, use quantas vezes quiser.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097280"/>
            <a:ext cx="2651760" cy="2651760"/>
          </a:xfrm>
          <a:prstGeom prst="roundRect">
            <a:avLst>
              <a:gd name="adj" fmla="val 2068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097280"/>
            <a:ext cx="2651760" cy="2651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200" b="1" i="0">
                <a:solidFill>
                  <a:srgbClr val="1E2B16"/>
                </a:solidFill>
                <a:latin typeface="Courier New"/>
              </a:rPr>
              <a:t>fn</a:t>
            </a:r>
          </a:p>
        </p:txBody>
      </p:sp>
      <p:sp>
        <p:nvSpPr>
          <p:cNvPr id="14" name="Oval 13"/>
          <p:cNvSpPr/>
          <p:nvPr/>
        </p:nvSpPr>
        <p:spPr>
          <a:xfrm>
            <a:off x="8366760" y="960120"/>
            <a:ext cx="228600" cy="228600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Anatomia de uma função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ourier New"/>
              </a:rPr>
              <a:t>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30759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Palavra-chave e nome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636776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um verbo que diz o que faz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741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3741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(a, 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1912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Parâmetros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448306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os ingredientes de entrada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48939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48939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930651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Retorno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259835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prato: o valor de saída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6047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6047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( 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74218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Chamada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71365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executa com valores reais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2103120"/>
            <a:ext cx="3429000" cy="1691639"/>
          </a:xfrm>
          <a:prstGeom prst="roundRect">
            <a:avLst>
              <a:gd name="adj" fmla="val 3243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2249424"/>
            <a:ext cx="3108960" cy="13990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function media(a, b)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return (a + b) / 2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m = media(7, 9)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console.log(m)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Não se repita (DRY)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39"/>
            <a:ext cx="3611879" cy="1280160"/>
          </a:xfrm>
          <a:prstGeom prst="roundRect">
            <a:avLst>
              <a:gd name="adj" fmla="val 4285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295144"/>
            <a:ext cx="3291839" cy="98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m1 = (7 + 9) / 2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m2 = (5 + 8) / 2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m3 = (6 + 10) / 2</a:t>
            </a:r>
          </a:p>
          <a:p>
            <a:r>
              <a:rPr sz="1500" b="1">
                <a:solidFill>
                  <a:srgbClr val="C9D3C0"/>
                </a:solidFill>
                <a:latin typeface="Courier New"/>
              </a:rPr>
              <a:t>// mudou a regra? 3 lugares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11879"/>
            <a:ext cx="3520439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Copiar e colar multiplica o bug.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148839"/>
            <a:ext cx="3611879" cy="1280160"/>
          </a:xfrm>
          <a:prstGeom prst="roundRect">
            <a:avLst>
              <a:gd name="adj" fmla="val 428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295144"/>
            <a:ext cx="3291839" cy="9875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m1 = media(7, 9)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m2 = media(5, 8)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m3 = media(6, 10)</a:t>
            </a:r>
          </a:p>
          <a:p>
            <a:r>
              <a:rPr sz="1500" b="1">
                <a:solidFill>
                  <a:srgbClr val="99CB38"/>
                </a:solidFill>
                <a:latin typeface="Courier New"/>
              </a:rPr>
              <a:t>// regra num lugar só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3611879"/>
            <a:ext cx="3520439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Mudou a regra? Muda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uma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função.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Parâmetro com valor padrão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Mercadinho do Seu Zé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67766C"/>
                </a:solidFill>
                <a:latin typeface="Calibri"/>
              </a:rPr>
              <a:t>Oferta da semana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0574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Arroz 5 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46888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67766C"/>
                </a:solidFill>
                <a:latin typeface="Calibri"/>
              </a:rPr>
              <a:t>de R$ 30,00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798064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4E6730"/>
                </a:solidFill>
                <a:latin typeface="Calibri"/>
              </a:rPr>
              <a:t>por R$ 27,00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73552"/>
            <a:ext cx="128016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273552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alibri"/>
              </a:rPr>
              <a:t>Adicionar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280160"/>
            <a:ext cx="4023360" cy="1280160"/>
          </a:xfrm>
          <a:prstGeom prst="roundRect">
            <a:avLst>
              <a:gd name="adj" fmla="val 4285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1463039"/>
            <a:ext cx="3566160" cy="9143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Sem informar o desconto, vale o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padrão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: 10%.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Menos argumentos, menos erro.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2834639"/>
            <a:ext cx="4023360" cy="1691639"/>
          </a:xfrm>
          <a:prstGeom prst="roundRect">
            <a:avLst>
              <a:gd name="adj" fmla="val 3243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980944"/>
            <a:ext cx="3703320" cy="13990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function comDesconto(preco,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                 pct = 10)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return preco * (1 - pct / 100)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comDesconto(30)  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27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comDesconto(30, 50)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15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console.log não é return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508760"/>
          </a:xfrm>
          <a:prstGeom prst="roundRect">
            <a:avLst>
              <a:gd name="adj" fmla="val 3636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1216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function dobro(n)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console.log(n * 2)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x = dobro(4)</a:t>
            </a:r>
          </a:p>
          <a:p>
            <a:r>
              <a:rPr sz="1500" b="1">
                <a:solidFill>
                  <a:srgbClr val="C9D3C0"/>
                </a:solidFill>
                <a:latin typeface="Courier New"/>
              </a:rPr>
              <a:t>// x: undefined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40479"/>
            <a:ext cx="3520439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Mostrou na tela, mas não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devolveu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508760"/>
          </a:xfrm>
          <a:prstGeom prst="roundRect">
            <a:avLst>
              <a:gd name="adj" fmla="val 363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1216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function dobro(n)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return n * 2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x = dobro(4)</a:t>
            </a:r>
          </a:p>
          <a:p>
            <a:r>
              <a:rPr sz="1500" b="1">
                <a:solidFill>
                  <a:srgbClr val="99CB38"/>
                </a:solidFill>
                <a:latin typeface="Courier New"/>
              </a:rPr>
              <a:t>// x: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840479"/>
            <a:ext cx="3520439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return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entrega o valor a quem chamou.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Arrow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A forma curta, que você vai ver em todo lugar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fn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=&gt;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{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2x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840479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Arrow function é um jeito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curto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de escrever funções.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840479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Mesma função, três formas. A 3ª é a mais usada.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356359"/>
            <a:ext cx="4023360" cy="2590800"/>
          </a:xfrm>
          <a:prstGeom prst="roundRect">
            <a:avLst>
              <a:gd name="adj" fmla="val 211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502663"/>
            <a:ext cx="3703320" cy="2298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99CB38"/>
                </a:solidFill>
                <a:latin typeface="Courier New"/>
              </a:rPr>
              <a:t>// 1. function clássica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function dobro(n)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return n * 2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2. arrow com bloco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dobro = (n) =&gt;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return n * 2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3. arrow enxuta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dobro = n =&gt; n *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Regras da arrow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n =&gt;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307592"/>
            <a:ext cx="6812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Um parâmetro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636776"/>
            <a:ext cx="6812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parênteses são opcionais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741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3741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() =&gt;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19122"/>
            <a:ext cx="6812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Nenhum ou vários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448306"/>
            <a:ext cx="6812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parênteses obrigatórios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48939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48939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=&gt; 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930651"/>
            <a:ext cx="6812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Uma expressão só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259835"/>
            <a:ext cx="6812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return fica implícito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6047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6047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=&gt; ({})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742182"/>
            <a:ext cx="6812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Devolver objeto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71365"/>
            <a:ext cx="6812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envolva o objeto em parênteses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Arrows estão em todo lugar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Rede social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@ifpe.palmares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19456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Foto da turma no laboratório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660903"/>
            <a:ext cx="164592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660903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alibri"/>
              </a:rPr>
              <a:t>♥ Curtir (12)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136391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67766C"/>
                </a:solidFill>
                <a:latin typeface="Calibri"/>
              </a:rPr>
              <a:t>clicou: a função roda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1280160"/>
            <a:ext cx="4023360" cy="1706879"/>
          </a:xfrm>
          <a:prstGeom prst="roundRect">
            <a:avLst>
              <a:gd name="adj" fmla="val 3214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1463039"/>
            <a:ext cx="3566160" cy="13411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Eventos, timers e listas usam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arrows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Você verá isso em arrays (14/10) e no DOM (28/10).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261360"/>
            <a:ext cx="4023360" cy="1264920"/>
          </a:xfrm>
          <a:prstGeom prst="roundRect">
            <a:avLst>
              <a:gd name="adj" fmla="val 433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407664"/>
            <a:ext cx="3703320" cy="9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botao.addEventListener('click',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() =&gt; curtir())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setTimeout(() =&gt; avisar(), 1000)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lista.map(n =&gt; n * 2)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retorna?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6217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const soma = (a, b) =&gt; a + b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soma(2, '3')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'23'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'5'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NaN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retorna?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6217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const soma = (a, b) =&gt; a + b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soma(2, '3')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'23'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'5'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NaN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Escopo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Onde cada variável existe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fn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=&gt;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{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2x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analogia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Escopo: quem enxerga quem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código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3749039" cy="2057400"/>
          </a:xfrm>
          <a:prstGeom prst="roundRect">
            <a:avLst>
              <a:gd name="adj" fmla="val 266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9424"/>
            <a:ext cx="3428999" cy="1764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cidade = 'Palmares'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function casa()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const quarto = 'cama'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console.log(cidade)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ok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console.log(quarto)</a:t>
            </a:r>
          </a:p>
          <a:p>
            <a:r>
              <a:rPr sz="1500" b="1">
                <a:solidFill>
                  <a:srgbClr val="99CB38"/>
                </a:solidFill>
                <a:latin typeface="Courier New"/>
              </a:rPr>
              <a:t>// ReferenceError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783080"/>
            <a:ext cx="731520" cy="2697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1" i="0">
                <a:solidFill>
                  <a:srgbClr val="63A537"/>
                </a:solidFill>
                <a:latin typeface="Calibri"/>
              </a:rPr>
              <a:t>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3258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dia a 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1783080"/>
            <a:ext cx="3749039" cy="2697480"/>
          </a:xfrm>
          <a:prstGeom prst="roundRect">
            <a:avLst>
              <a:gd name="adj" fmla="val 2033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66360" y="20116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01168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00CC99"/>
                </a:solidFill>
                <a:latin typeface="Courier New"/>
              </a:rPr>
              <a:t>{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834639"/>
            <a:ext cx="3291839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E2B16"/>
                </a:solidFill>
                <a:latin typeface="Calibri"/>
              </a:rPr>
              <a:t>De dentro de casa você </a:t>
            </a:r>
            <a:r>
              <a:rPr sz="2000" b="1" i="0">
                <a:solidFill>
                  <a:srgbClr val="1E2B16"/>
                </a:solidFill>
                <a:latin typeface="Calibri"/>
              </a:rPr>
              <a:t>vê a rua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.</a:t>
            </a:r>
          </a:p>
          <a:p>
            <a:pPr algn="l"/>
            <a:r>
              <a:rPr sz="2000" b="0" i="0">
                <a:solidFill>
                  <a:srgbClr val="1E2B16"/>
                </a:solidFill>
                <a:latin typeface="Calibri"/>
              </a:rPr>
              <a:t>Da rua, ninguém vê o seu quarto.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let respeita o bloco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39"/>
            <a:ext cx="3611879" cy="1508760"/>
          </a:xfrm>
          <a:prstGeom prst="roundRect">
            <a:avLst>
              <a:gd name="adj" fmla="val 3636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295144"/>
            <a:ext cx="3291839" cy="1216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if (true)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var vazou = 'oi'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console.log(vazou)</a:t>
            </a:r>
          </a:p>
          <a:p>
            <a:r>
              <a:rPr sz="1500" b="1">
                <a:solidFill>
                  <a:srgbClr val="C9D3C0"/>
                </a:solidFill>
                <a:latin typeface="Courier New"/>
              </a:rPr>
              <a:t>// 'oi' (escapou!)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40479"/>
            <a:ext cx="3520439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var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ignora as chaves do bloco.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148839"/>
            <a:ext cx="3611879" cy="1508760"/>
          </a:xfrm>
          <a:prstGeom prst="roundRect">
            <a:avLst>
              <a:gd name="adj" fmla="val 363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295144"/>
            <a:ext cx="3291839" cy="12161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if (true)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let preso = 'oi'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console.log(preso)</a:t>
            </a:r>
          </a:p>
          <a:p>
            <a:r>
              <a:rPr sz="1500" b="1">
                <a:solidFill>
                  <a:srgbClr val="99CB38"/>
                </a:solidFill>
                <a:latin typeface="Courier New"/>
              </a:rPr>
              <a:t>// ReferenceError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3840479"/>
            <a:ext cx="3520439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let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e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const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ficam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dentro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do bloco.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curiosidade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931920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Closure: a função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lembra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do escopo onde nasceu.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Como uma mochila: a função leva as variáveis junto.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623060"/>
            <a:ext cx="3931920" cy="2057400"/>
          </a:xfrm>
          <a:prstGeom prst="roundRect">
            <a:avLst>
              <a:gd name="adj" fmla="val 266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769364"/>
            <a:ext cx="3611879" cy="1764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function criarContador()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let total = 0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return () =&gt; ++total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contar = criarContador()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contar()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1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contar()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1188719"/>
          </a:xfrm>
          <a:prstGeom prst="roundRect">
            <a:avLst>
              <a:gd name="adj" fmla="val 461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8961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let x = 1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if (true) { let x = 2 }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console.log(x)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ReferenceError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1188719"/>
          </a:xfrm>
          <a:prstGeom prst="roundRect">
            <a:avLst>
              <a:gd name="adj" fmla="val 461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89611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let x = 1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if (true) { let x = 2 }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console.log(x)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ReferenceError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Problemas em duplas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Três desafios com entrega no Classroom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fn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=&gt;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{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2x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Programação em par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307592"/>
            <a:ext cx="726947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Piloto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636776"/>
            <a:ext cx="726947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digita e fala o que está fazendo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741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3741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119122"/>
            <a:ext cx="726947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Navegador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448306"/>
            <a:ext cx="726947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revisa e pensa no próximo passo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48939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48939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930651"/>
            <a:ext cx="726947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Troca a cada 10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259835"/>
            <a:ext cx="726947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os dois pilotam, os dois pensam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6047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6047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742182"/>
            <a:ext cx="726947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Travou?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071365"/>
            <a:ext cx="726947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pergunte à dupla, depois ao professor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Par ou ímpar?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15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Crie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classificar(n)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com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function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Use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%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para descobrir se é par.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Devolva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'par'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ou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'ímpar'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com ternário.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Teste com 7, -4 e 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Bônus: diga também se é positivo ou negativo.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1905000"/>
          </a:xfrm>
          <a:prstGeom prst="roundRect">
            <a:avLst>
              <a:gd name="adj" fmla="val 287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16123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function classificar(n)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sua vez!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classificar(7)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'ímpar'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classificar(-4)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'par'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classificar(0)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'par'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Tabuada com for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15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Crie a arrow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tabuada(n)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Use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for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de 1 a 10.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Mostre cada linha com template literal.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Chame para o 7 e para o 9.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Bônus: aceite o limite como parâmetro padrão.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2331720"/>
          </a:xfrm>
          <a:prstGeom prst="roundRect">
            <a:avLst>
              <a:gd name="adj" fmla="val 2352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20391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tabuada = (n) =&gt;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sua vez!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tabuada(7)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7 x 1 = 7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7 x 2 = 14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...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7 x 10 = 70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Caixa eletrônico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25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Crie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sacar(valor)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Notas disponíveis: 100, 50, 20 e 10.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Entregue o menor número de notas.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Valor que não fecha? Avise com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if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Entrega: link do código no Classroom.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2118360"/>
          </a:xfrm>
          <a:prstGeom prst="roundRect">
            <a:avLst>
              <a:gd name="adj" fmla="val 258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18257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notas = [100, 50, 20, 10]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sacar(380)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3 de 100, 1 de 50,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1 de 20, 1 de 10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sacar(15)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'Valor inválido'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resumo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Leve para casa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i="0">
                <a:solidFill>
                  <a:srgbClr val="7C2BD0"/>
                </a:solidFill>
                <a:latin typeface="Calibri"/>
              </a:rPr>
              <a:t>if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,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else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e ternário decidem o caminho.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616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645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60604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i="0">
                <a:solidFill>
                  <a:srgbClr val="7C2BD0"/>
                </a:solidFill>
                <a:latin typeface="Calibri"/>
              </a:rPr>
              <a:t>for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,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while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e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for...of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repetem sem copiar.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fn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0604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i="0">
                <a:solidFill>
                  <a:srgbClr val="2B2B2B"/>
                </a:solidFill>
                <a:latin typeface="Calibri"/>
              </a:rPr>
              <a:t>Funções com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return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reaproveitam a lógica.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pe-logo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95913"/>
            <a:ext cx="2377440" cy="9516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31520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99CB38"/>
                </a:solidFill>
                <a:latin typeface="Courier New"/>
              </a:rPr>
              <a:t>&gt; próxima_aula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urier New"/>
              </a:rPr>
              <a:t>Arrays e métodos funcionais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99CB38"/>
                </a:solidFill>
                <a:latin typeface="Calibri"/>
              </a:rPr>
              <a:t>14/10 · sala de aula invertida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9D3C0"/>
                </a:solidFill>
                <a:latin typeface="Calibri"/>
              </a:rPr>
              <a:t>Antes da aula: leia MDN · Array (map, filter)</a:t>
            </a:r>
          </a:p>
          <a:p>
            <a:pPr algn="l"/>
            <a:r>
              <a:rPr sz="1500" b="0" i="0">
                <a:solidFill>
                  <a:srgbClr val="C9D3C0"/>
                </a:solidFill>
                <a:latin typeface="Calibri"/>
              </a:rPr>
              <a:t>Termine os desafios no Classroom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C9D3C0"/>
                </a:solidFill>
                <a:latin typeface="Calibri"/>
              </a:rPr>
              <a:t>Prof. Thiago Araújo · IFPE Campus Palmares · ADS 3º período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